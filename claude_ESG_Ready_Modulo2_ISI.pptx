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5143500" cx="9144000"/>
  <p:notesSz cx="5143500" cy="9144000"/>
  <p:embeddedFontLst>
    <p:embeddedFont>
      <p:font typeface="Arial Black"/>
      <p:regular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1" roundtripDataSignature="AMtx7mjznPDn6aEtcFsALlahCdNWmAWxD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font" Target="fonts/ArialBlack-regular.fntdata"/><Relationship Id="rId31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" name="Google Shape;2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" name="Google Shape;21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2" name="Google Shape;26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4" name="Google Shape;334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3" name="Google Shape;353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9" name="Google Shape;38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9" name="Google Shape;399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0" name="Google Shape;430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0" name="Google Shape;440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7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image" Target="../media/image25.png"/><Relationship Id="rId7" Type="http://schemas.openxmlformats.org/officeDocument/2006/relationships/image" Target="../media/image10.png"/><Relationship Id="rId8" Type="http://schemas.openxmlformats.org/officeDocument/2006/relationships/image" Target="../media/image23.png"/><Relationship Id="rId9" Type="http://schemas.openxmlformats.org/officeDocument/2006/relationships/image" Target="../media/image9.png"/><Relationship Id="rId10" Type="http://schemas.openxmlformats.org/officeDocument/2006/relationships/image" Target="../media/image24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25.png"/><Relationship Id="rId5" Type="http://schemas.openxmlformats.org/officeDocument/2006/relationships/image" Target="../media/image10.png"/><Relationship Id="rId6" Type="http://schemas.openxmlformats.org/officeDocument/2006/relationships/image" Target="../media/image22.png"/><Relationship Id="rId7" Type="http://schemas.openxmlformats.org/officeDocument/2006/relationships/image" Target="../media/image9.png"/><Relationship Id="rId8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6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1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9.png"/><Relationship Id="rId4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6.png"/><Relationship Id="rId4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1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0047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9144000" cy="54864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217920" y="-1371600"/>
            <a:ext cx="5029200" cy="5029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6858000" y="2286000"/>
            <a:ext cx="3657600" cy="3657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731520" y="548640"/>
            <a:ext cx="548640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 Black"/>
              <a:buNone/>
            </a:pPr>
            <a:r>
              <a:rPr b="0" i="0" lang="en-US" sz="4800" u="none" cap="none" strike="noStrike">
                <a:solidFill>
                  <a:srgbClr val="FFFFFF"/>
                </a:solidFill>
                <a:latin typeface="Syne ExtraBold"/>
                <a:ea typeface="Syne ExtraBold"/>
                <a:cs typeface="Syne ExtraBold"/>
                <a:sym typeface="Arial Black"/>
              </a:rPr>
              <a:t>ESG Ready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31520" y="15544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Módulo 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31520" y="2194560"/>
            <a:ext cx="2286000" cy="36576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731520" y="2468880"/>
            <a:ext cx="6400800" cy="8229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La "E" sin dramas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731520" y="3200400"/>
            <a:ext cx="6400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Impacto ambiental que se entiende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731520" y="42062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Institute for Sustainable Innovation  ×  Dcycle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" name="Google Shape;2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89520" y="1645920"/>
            <a:ext cx="914400" cy="9144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pic>
        <p:nvPicPr>
          <p:cNvPr id="26" name="Picture 25" descr="LOGO ISI 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9486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2800"/>
              <a:buFont typeface="Arial Black"/>
              <a:buNone/>
            </a:pPr>
            <a:r>
              <a:rPr b="0" i="0" lang="en-US" sz="28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9 píldoras, un mapa claro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640080" y="868680"/>
            <a:ext cx="1371600" cy="36576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33" name="Google Shape;3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271016"/>
            <a:ext cx="256032" cy="25603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34" name="Google Shape;34;p2"/>
          <p:cNvSpPr/>
          <p:nvPr/>
        </p:nvSpPr>
        <p:spPr>
          <a:xfrm>
            <a:off x="1005840" y="1234440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5EBDA"/>
                </a:solidFill>
                <a:latin typeface="Syne Medium"/>
                <a:ea typeface="Syne Medium"/>
                <a:cs typeface="Syne Medium"/>
                <a:sym typeface="Calibri"/>
              </a:rPr>
              <a:t>01</a:t>
            </a: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  La E no es ecología: es impactos y costes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5" name="Google Shape;3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080" y="1655064"/>
            <a:ext cx="256032" cy="25603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36" name="Google Shape;36;p2"/>
          <p:cNvSpPr/>
          <p:nvPr/>
        </p:nvSpPr>
        <p:spPr>
          <a:xfrm>
            <a:off x="1005840" y="1618488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5EBDA"/>
                </a:solidFill>
                <a:latin typeface="Syne Medium"/>
                <a:ea typeface="Syne Medium"/>
                <a:cs typeface="Syne Medium"/>
                <a:sym typeface="Calibri"/>
              </a:rPr>
              <a:t>02</a:t>
            </a: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  Tu huella en 5 preguntas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7" name="Google Shape;37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0080" y="2039112"/>
            <a:ext cx="256032" cy="25603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38" name="Google Shape;38;p2"/>
          <p:cNvSpPr/>
          <p:nvPr/>
        </p:nvSpPr>
        <p:spPr>
          <a:xfrm>
            <a:off x="1005840" y="2002536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5EBDA"/>
                </a:solidFill>
                <a:latin typeface="Syne Medium"/>
                <a:ea typeface="Syne Medium"/>
                <a:cs typeface="Syne Medium"/>
                <a:sym typeface="Calibri"/>
              </a:rPr>
              <a:t>03</a:t>
            </a: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  Energía: el dato que siempre te piden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" name="Google Shape;39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0080" y="2423160"/>
            <a:ext cx="256032" cy="25603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40" name="Google Shape;40;p2"/>
          <p:cNvSpPr/>
          <p:nvPr/>
        </p:nvSpPr>
        <p:spPr>
          <a:xfrm>
            <a:off x="1005840" y="2386584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5EBDA"/>
                </a:solidFill>
                <a:latin typeface="Syne Medium"/>
                <a:ea typeface="Syne Medium"/>
                <a:cs typeface="Syne Medium"/>
                <a:sym typeface="Calibri"/>
              </a:rPr>
              <a:t>04</a:t>
            </a: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  Residuos: menos épica, más control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1" name="Google Shape;41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0080" y="2807208"/>
            <a:ext cx="256032" cy="25603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42" name="Google Shape;42;p2"/>
          <p:cNvSpPr/>
          <p:nvPr/>
        </p:nvSpPr>
        <p:spPr>
          <a:xfrm>
            <a:off x="1005840" y="2770632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5EBDA"/>
                </a:solidFill>
                <a:latin typeface="Syne Medium"/>
                <a:ea typeface="Syne Medium"/>
                <a:cs typeface="Syne Medium"/>
                <a:sym typeface="Calibri"/>
              </a:rPr>
              <a:t>05</a:t>
            </a: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  Agua: cuándo importa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3" name="Google Shape;43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480560" y="1271016"/>
            <a:ext cx="256032" cy="25603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44" name="Google Shape;44;p2"/>
          <p:cNvSpPr/>
          <p:nvPr/>
        </p:nvSpPr>
        <p:spPr>
          <a:xfrm>
            <a:off x="4846320" y="1234440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5EBDA"/>
                </a:solidFill>
                <a:latin typeface="Syne Medium"/>
                <a:ea typeface="Syne Medium"/>
                <a:cs typeface="Syne Medium"/>
                <a:sym typeface="Calibri"/>
              </a:rPr>
              <a:t>06</a:t>
            </a: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  Emisiones: CO₂ sin hacer un máster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5" name="Google Shape;45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480560" y="1655064"/>
            <a:ext cx="256032" cy="25603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46" name="Google Shape;46;p2"/>
          <p:cNvSpPr/>
          <p:nvPr/>
        </p:nvSpPr>
        <p:spPr>
          <a:xfrm>
            <a:off x="4846320" y="1618488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5EBDA"/>
                </a:solidFill>
                <a:latin typeface="Syne Medium"/>
                <a:ea typeface="Syne Medium"/>
                <a:cs typeface="Syne Medium"/>
                <a:sym typeface="Calibri"/>
              </a:rPr>
              <a:t>07</a:t>
            </a: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  Compras y proveedores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7" name="Google Shape;47;p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480560" y="2039112"/>
            <a:ext cx="256032" cy="25603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48" name="Google Shape;48;p2"/>
          <p:cNvSpPr/>
          <p:nvPr/>
        </p:nvSpPr>
        <p:spPr>
          <a:xfrm>
            <a:off x="4846320" y="2002536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5EBDA"/>
                </a:solidFill>
                <a:latin typeface="Syne Medium"/>
                <a:ea typeface="Syne Medium"/>
                <a:cs typeface="Syne Medium"/>
                <a:sym typeface="Calibri"/>
              </a:rPr>
              <a:t>08</a:t>
            </a: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  Objetivos realistas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9" name="Google Shape;49;p2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480560" y="2423160"/>
            <a:ext cx="256032" cy="25603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50" name="Google Shape;50;p2"/>
          <p:cNvSpPr/>
          <p:nvPr/>
        </p:nvSpPr>
        <p:spPr>
          <a:xfrm>
            <a:off x="4846320" y="2386584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5EBDA"/>
                </a:solidFill>
                <a:latin typeface="Syne Medium"/>
                <a:ea typeface="Syne Medium"/>
                <a:cs typeface="Syne Medium"/>
                <a:sym typeface="Calibri"/>
              </a:rPr>
              <a:t>09</a:t>
            </a: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  Checklist ambiental defendible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ESG Ready  ·  Módulo 2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Picture 52" descr="LOGO ISI BLAC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434340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0047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>
            <a:off x="0" y="0"/>
            <a:ext cx="109728" cy="5143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59" name="Google Shape;59;p3"/>
          <p:cNvSpPr/>
          <p:nvPr/>
        </p:nvSpPr>
        <p:spPr>
          <a:xfrm>
            <a:off x="457200" y="457200"/>
            <a:ext cx="137160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6000"/>
              <a:buFont typeface="Arial Black"/>
              <a:buNone/>
            </a:pPr>
            <a:r>
              <a:rPr b="0" i="0" lang="en-US" sz="60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01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57200" y="1463040"/>
            <a:ext cx="5486400" cy="12801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La E no es ecología: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es impactos y costes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57200" y="2926080"/>
            <a:ext cx="5486400" cy="7315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La "E" va de entender qué impactos ambientales genera tu empresa y cuánto te cuestan.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2" name="Google Shape;6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0" y="1828800"/>
            <a:ext cx="109728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pic>
        <p:nvPicPr>
          <p:cNvPr id="63" name="Picture 62" descr="LOGO ISI 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9486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69" name="Google Shape;69;p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Píldora 1  |  La E no es ecología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6858000" y="4709160"/>
            <a:ext cx="2011680" cy="4343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ESG Ready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Tres fuerzas que empujan la "E"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40080" y="1188720"/>
            <a:ext cx="2560320" cy="292608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640080" y="1188720"/>
            <a:ext cx="2560320" cy="54864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74" name="Google Shape;74;p4"/>
          <p:cNvSpPr/>
          <p:nvPr/>
        </p:nvSpPr>
        <p:spPr>
          <a:xfrm>
            <a:off x="822960" y="1417320"/>
            <a:ext cx="2194560" cy="4572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Regulación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822960" y="1965960"/>
            <a:ext cx="2194560" cy="18288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La CSRD obliga a las grandes a reportar, y ellas piden datos a sus proveedores. Si eres proveedor, te va a llegar.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3429000" y="1188720"/>
            <a:ext cx="2560320" cy="292608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77" name="Google Shape;77;p4"/>
          <p:cNvSpPr/>
          <p:nvPr/>
        </p:nvSpPr>
        <p:spPr>
          <a:xfrm>
            <a:off x="3429000" y="1188720"/>
            <a:ext cx="2560320" cy="54864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78" name="Google Shape;78;p4"/>
          <p:cNvSpPr/>
          <p:nvPr/>
        </p:nvSpPr>
        <p:spPr>
          <a:xfrm>
            <a:off x="3611880" y="1417320"/>
            <a:ext cx="2194560" cy="4572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Mercado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3611880" y="1965960"/>
            <a:ext cx="2194560" cy="18288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Clientes, bancos y fondos piden información ambiental antes de trabajar contigo. Es requisito, no cortesía.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6217920" y="1188720"/>
            <a:ext cx="2560320" cy="292608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6217920" y="1188720"/>
            <a:ext cx="2560320" cy="54864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6400800" y="1417320"/>
            <a:ext cx="2194560" cy="4572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Eficiencia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6400800" y="1965960"/>
            <a:ext cx="2194560" cy="18288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Medir tu impacto ambiental casi siempre revela ineficiencias que te están costando dinero.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" name="Picture 83" descr="LOGO ISI 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34340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90" name="Google Shape;90;p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Píldora 1  |  La E no es ecología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6858000" y="4709160"/>
            <a:ext cx="2011680" cy="4343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ESG Ready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El error más común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640080" y="1097280"/>
            <a:ext cx="7863900" cy="1828800"/>
          </a:xfrm>
          <a:prstGeom prst="roundRect">
            <a:avLst>
              <a:gd name="adj" fmla="val 4000"/>
            </a:avLst>
          </a:prstGeom>
          <a:solidFill>
            <a:srgbClr val="150047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94" name="Google Shape;94;p5"/>
          <p:cNvSpPr/>
          <p:nvPr/>
        </p:nvSpPr>
        <p:spPr>
          <a:xfrm>
            <a:off x="1005840" y="1188720"/>
            <a:ext cx="7132320" cy="16459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0" i="1" lang="en-US" sz="18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Calibri"/>
              </a:rPr>
              <a:t>"Esto va de tener datos, saber qué te piden, responder con solvencia y, de paso, identificar dónde puedes ahorrar."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640080" y="3291840"/>
            <a:ext cx="78638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640080" y="3291840"/>
            <a:ext cx="73152" cy="109728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97" name="Google Shape;9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0120" y="3474720"/>
            <a:ext cx="36576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98" name="Google Shape;98;p5"/>
          <p:cNvSpPr/>
          <p:nvPr/>
        </p:nvSpPr>
        <p:spPr>
          <a:xfrm>
            <a:off x="1463040" y="3383280"/>
            <a:ext cx="6766560" cy="9144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Ejemplo: Una empresa industrial que mide su consumo energético por línea de producción suele descubrir que hay una línea que consume un 20-30% más por mantenimiento deficiente. Eso no es ecología: es cuenta de resultados.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Picture 98" descr="LOGO ISI 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4340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0047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"/>
          <p:cNvSpPr/>
          <p:nvPr/>
        </p:nvSpPr>
        <p:spPr>
          <a:xfrm>
            <a:off x="0" y="0"/>
            <a:ext cx="109728" cy="5143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457200" y="457200"/>
            <a:ext cx="137160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6000"/>
              <a:buFont typeface="Arial Black"/>
              <a:buNone/>
            </a:pPr>
            <a:r>
              <a:rPr b="0" i="0" lang="en-US" sz="60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02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457200" y="1463040"/>
            <a:ext cx="5486400" cy="12801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Tu huella en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5 preguntas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457200" y="29260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Dónde suele estar lo gordo de tu impacto ambiental.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8" name="Google Shape;10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0" y="1828800"/>
            <a:ext cx="109728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pic>
        <p:nvPicPr>
          <p:cNvPr id="109" name="Picture 108" descr="LOGO ISI 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9486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Píldora 2  |  Tu huella en 5 preguntas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6858000" y="4709160"/>
            <a:ext cx="2011680" cy="4343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ESG Ready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640080" y="2286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Las 5 preguntas clave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640080" y="960120"/>
            <a:ext cx="7863840" cy="62179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640080" y="960120"/>
            <a:ext cx="64008" cy="62179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120" name="Google Shape;1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1088136"/>
            <a:ext cx="347472" cy="34747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121" name="Google Shape;121;p7"/>
          <p:cNvSpPr/>
          <p:nvPr/>
        </p:nvSpPr>
        <p:spPr>
          <a:xfrm>
            <a:off x="1417320" y="960120"/>
            <a:ext cx="4572000" cy="62179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 Medium"/>
                <a:ea typeface="Syne Medium"/>
                <a:cs typeface="Syne Medium"/>
                <a:sym typeface="Calibri"/>
              </a:rPr>
              <a:t>1. ¿Cuánto pagas de luz y gas al año?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6126480" y="960120"/>
            <a:ext cx="2194560" cy="62179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A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Si &gt;20K€/año → tema material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640080" y="1673352"/>
            <a:ext cx="7863840" cy="62179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24" name="Google Shape;124;p7"/>
          <p:cNvSpPr/>
          <p:nvPr/>
        </p:nvSpPr>
        <p:spPr>
          <a:xfrm>
            <a:off x="640080" y="1673352"/>
            <a:ext cx="64008" cy="62179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125" name="Google Shape;125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4400" y="1801368"/>
            <a:ext cx="347472" cy="34747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126" name="Google Shape;126;p7"/>
          <p:cNvSpPr/>
          <p:nvPr/>
        </p:nvSpPr>
        <p:spPr>
          <a:xfrm>
            <a:off x="1417320" y="1673352"/>
            <a:ext cx="4572000" cy="62179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 Medium"/>
                <a:ea typeface="Syne Medium"/>
                <a:cs typeface="Syne Medium"/>
                <a:sym typeface="Calibri"/>
              </a:rPr>
              <a:t>2. ¿Qué haces con lo que sobra?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6126480" y="1673352"/>
            <a:ext cx="2194560" cy="62179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A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Residuos: gestor autorizado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640080" y="2386584"/>
            <a:ext cx="7863840" cy="62179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640080" y="2386584"/>
            <a:ext cx="64008" cy="62179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130" name="Google Shape;130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14400" y="2514600"/>
            <a:ext cx="347472" cy="34747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131" name="Google Shape;131;p7"/>
          <p:cNvSpPr/>
          <p:nvPr/>
        </p:nvSpPr>
        <p:spPr>
          <a:xfrm>
            <a:off x="1417320" y="2386584"/>
            <a:ext cx="4572000" cy="62179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 Medium"/>
                <a:ea typeface="Syne Medium"/>
                <a:cs typeface="Syne Medium"/>
                <a:sym typeface="Calibri"/>
              </a:rPr>
              <a:t>3. ¿El agua es relevante en tu actividad?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6126480" y="2386584"/>
            <a:ext cx="2194560" cy="62179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A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Depende del sector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640080" y="3099816"/>
            <a:ext cx="7863840" cy="62179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34" name="Google Shape;134;p7"/>
          <p:cNvSpPr/>
          <p:nvPr/>
        </p:nvSpPr>
        <p:spPr>
          <a:xfrm>
            <a:off x="640080" y="3099816"/>
            <a:ext cx="64008" cy="62179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135" name="Google Shape;135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14400" y="3227832"/>
            <a:ext cx="347472" cy="34747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136" name="Google Shape;136;p7"/>
          <p:cNvSpPr/>
          <p:nvPr/>
        </p:nvSpPr>
        <p:spPr>
          <a:xfrm>
            <a:off x="1417320" y="3099816"/>
            <a:ext cx="4572000" cy="62179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 Medium"/>
                <a:ea typeface="Syne Medium"/>
                <a:cs typeface="Syne Medium"/>
                <a:sym typeface="Calibri"/>
              </a:rPr>
              <a:t>4. ¿Tienes flota o viajes frecuentes?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6126480" y="3099816"/>
            <a:ext cx="2194560" cy="62179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A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Transporte = emisiones + coste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40080" y="3813048"/>
            <a:ext cx="7863840" cy="62179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39" name="Google Shape;139;p7"/>
          <p:cNvSpPr/>
          <p:nvPr/>
        </p:nvSpPr>
        <p:spPr>
          <a:xfrm>
            <a:off x="640080" y="3813048"/>
            <a:ext cx="64008" cy="62179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140" name="Google Shape;140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14400" y="3941064"/>
            <a:ext cx="347472" cy="34747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141" name="Google Shape;141;p7"/>
          <p:cNvSpPr/>
          <p:nvPr/>
        </p:nvSpPr>
        <p:spPr>
          <a:xfrm>
            <a:off x="1417320" y="3813048"/>
            <a:ext cx="4572000" cy="62179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 Medium"/>
                <a:ea typeface="Syne Medium"/>
                <a:cs typeface="Syne Medium"/>
                <a:sym typeface="Calibri"/>
              </a:rPr>
              <a:t>5. ¿Qué compras y a quién?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6126480" y="3813048"/>
            <a:ext cx="2194560" cy="62179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A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&gt;70% huella en compras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3" name="Picture 142" descr="LOGO ISI BLA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434340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0047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49" name="Google Shape;149;p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Píldora 2  |  Tu huella en 5 preguntas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6858000" y="4709160"/>
            <a:ext cx="2011680" cy="4343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ESG Ready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914400" y="731520"/>
            <a:ext cx="2743200" cy="18288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8000"/>
              <a:buFont typeface="Arial Black"/>
              <a:buNone/>
            </a:pPr>
            <a:r>
              <a:rPr b="0" i="0" lang="en-US" sz="80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80%</a:t>
            </a:r>
            <a:endParaRPr b="0" i="0" sz="8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914400" y="2377440"/>
            <a:ext cx="3657600" cy="9144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Calibri"/>
              </a:rPr>
              <a:t>del impacto ambiental de la mayoría de pymes se concentra en 2-3 áreas.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5303520" y="457200"/>
            <a:ext cx="3474720" cy="384048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54" name="Google Shape;154;p8"/>
          <p:cNvSpPr/>
          <p:nvPr/>
        </p:nvSpPr>
        <p:spPr>
          <a:xfrm>
            <a:off x="5577840" y="914400"/>
            <a:ext cx="2926080" cy="32004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Syne SemiBold"/>
                <a:ea typeface="Syne SemiBold"/>
                <a:cs typeface="Syne SemiBold"/>
                <a:sym typeface="Calibri"/>
              </a:rPr>
              <a:t>No intentes medirlo</a:t>
            </a:r>
            <a:b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FFFFFF"/>
                </a:solidFill>
                <a:latin typeface="Syne SemiBold"/>
                <a:ea typeface="Syne SemiBold"/>
                <a:cs typeface="Syne SemiBold"/>
                <a:sym typeface="Calibri"/>
              </a:rPr>
              <a:t>todo a la vez.</a:t>
            </a:r>
            <a:b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Identifica tus 2-3 temas gordos y empieza por ahí.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5" name="Picture 154" descr="LOGO ISI CLA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59486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0047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/>
          <p:cNvSpPr/>
          <p:nvPr/>
        </p:nvSpPr>
        <p:spPr>
          <a:xfrm>
            <a:off x="0" y="0"/>
            <a:ext cx="109728" cy="5143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61" name="Google Shape;161;p9"/>
          <p:cNvSpPr/>
          <p:nvPr/>
        </p:nvSpPr>
        <p:spPr>
          <a:xfrm>
            <a:off x="457200" y="457200"/>
            <a:ext cx="137160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6000"/>
              <a:buFont typeface="Arial Black"/>
              <a:buNone/>
            </a:pPr>
            <a:r>
              <a:rPr b="0" i="0" lang="en-US" sz="60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03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9"/>
          <p:cNvSpPr/>
          <p:nvPr/>
        </p:nvSpPr>
        <p:spPr>
          <a:xfrm>
            <a:off x="457200" y="1463040"/>
            <a:ext cx="6400800" cy="12801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Energía: el dato que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casi siempre te van a pedir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9"/>
          <p:cNvSpPr/>
          <p:nvPr/>
        </p:nvSpPr>
        <p:spPr>
          <a:xfrm>
            <a:off x="457200" y="2926080"/>
            <a:ext cx="5943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Es fácil de obtener, está ligado a emisiones de CO₂ y es un coste que puedes optimizar.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4" name="Google Shape;16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0" y="1828800"/>
            <a:ext cx="109728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pic>
        <p:nvPicPr>
          <p:cNvPr id="165" name="Picture 164" descr="LOGO ISI 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9486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0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71" name="Google Shape;171;p1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Píldora 3  |  Energía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0"/>
          <p:cNvSpPr/>
          <p:nvPr/>
        </p:nvSpPr>
        <p:spPr>
          <a:xfrm>
            <a:off x="6858000" y="4709160"/>
            <a:ext cx="2011680" cy="4343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ESG Ready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0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Los 3 datos básicos de energía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0"/>
          <p:cNvSpPr/>
          <p:nvPr/>
        </p:nvSpPr>
        <p:spPr>
          <a:xfrm>
            <a:off x="640080" y="1097280"/>
            <a:ext cx="2560320" cy="2286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75" name="Google Shape;175;p10"/>
          <p:cNvSpPr/>
          <p:nvPr/>
        </p:nvSpPr>
        <p:spPr>
          <a:xfrm>
            <a:off x="1463040" y="1280160"/>
            <a:ext cx="914400" cy="91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76" name="Google Shape;176;p10"/>
          <p:cNvSpPr/>
          <p:nvPr/>
        </p:nvSpPr>
        <p:spPr>
          <a:xfrm>
            <a:off x="1463040" y="1325880"/>
            <a:ext cx="914400" cy="8686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Syne ExtraBold"/>
                <a:ea typeface="Syne ExtraBold"/>
                <a:cs typeface="Syne ExtraBold"/>
                <a:sym typeface="Arial Black"/>
              </a:rPr>
              <a:t>1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0"/>
          <p:cNvSpPr/>
          <p:nvPr/>
        </p:nvSpPr>
        <p:spPr>
          <a:xfrm>
            <a:off x="822960" y="2331720"/>
            <a:ext cx="219456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Electricidad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0"/>
          <p:cNvSpPr/>
          <p:nvPr/>
        </p:nvSpPr>
        <p:spPr>
          <a:xfrm>
            <a:off x="822960" y="2697480"/>
            <a:ext cx="2194560" cy="5943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kWh/año por centro de trabajo.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Está en tu factura de la comercializadora.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0"/>
          <p:cNvSpPr/>
          <p:nvPr/>
        </p:nvSpPr>
        <p:spPr>
          <a:xfrm>
            <a:off x="3429000" y="1097280"/>
            <a:ext cx="2560320" cy="2286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80" name="Google Shape;180;p10"/>
          <p:cNvSpPr/>
          <p:nvPr/>
        </p:nvSpPr>
        <p:spPr>
          <a:xfrm>
            <a:off x="4251960" y="1280160"/>
            <a:ext cx="914400" cy="91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81" name="Google Shape;181;p10"/>
          <p:cNvSpPr/>
          <p:nvPr/>
        </p:nvSpPr>
        <p:spPr>
          <a:xfrm>
            <a:off x="4251960" y="1325880"/>
            <a:ext cx="914400" cy="8686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Syne ExtraBold"/>
                <a:ea typeface="Syne ExtraBold"/>
                <a:cs typeface="Syne ExtraBold"/>
                <a:sym typeface="Arial Black"/>
              </a:rPr>
              <a:t>2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3611880" y="2331720"/>
            <a:ext cx="219456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Gas natural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3611880" y="2697480"/>
            <a:ext cx="2194560" cy="5943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kWh o m³/año.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Tu distribuidora te da el consumo.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0"/>
          <p:cNvSpPr/>
          <p:nvPr/>
        </p:nvSpPr>
        <p:spPr>
          <a:xfrm>
            <a:off x="6217920" y="1097280"/>
            <a:ext cx="2560320" cy="2286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85" name="Google Shape;185;p10"/>
          <p:cNvSpPr/>
          <p:nvPr/>
        </p:nvSpPr>
        <p:spPr>
          <a:xfrm>
            <a:off x="7040880" y="1280160"/>
            <a:ext cx="914400" cy="91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86" name="Google Shape;186;p10"/>
          <p:cNvSpPr/>
          <p:nvPr/>
        </p:nvSpPr>
        <p:spPr>
          <a:xfrm>
            <a:off x="7040880" y="1325880"/>
            <a:ext cx="914400" cy="8686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Syne ExtraBold"/>
                <a:ea typeface="Syne ExtraBold"/>
                <a:cs typeface="Syne ExtraBold"/>
                <a:sym typeface="Arial Black"/>
              </a:rPr>
              <a:t>3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6400800" y="2331720"/>
            <a:ext cx="219456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Otros combustibles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6400800" y="2697480"/>
            <a:ext cx="2194560" cy="5943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Gasóleo calefacción, biomasa, etc.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Si los tienes, son tus litros o kWh.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0"/>
          <p:cNvSpPr/>
          <p:nvPr/>
        </p:nvSpPr>
        <p:spPr>
          <a:xfrm>
            <a:off x="640080" y="3657600"/>
            <a:ext cx="7863840" cy="822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190" name="Google Shape;19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8680" y="3794760"/>
            <a:ext cx="36576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191" name="Google Shape;191;p10"/>
          <p:cNvSpPr/>
          <p:nvPr/>
        </p:nvSpPr>
        <p:spPr>
          <a:xfrm>
            <a:off x="1371600" y="3703320"/>
            <a:ext cx="6858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Calibri"/>
              </a:rPr>
              <a:t>Consejo: Crea una tabla con 12 filas (una por mes) con columnas para kWh electricidad, kWh gas, coste electricidad y coste gas. Con eso ya tienes el 80% del trabajo hecho.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2" name="Picture 191" descr="LOGO ISI 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4340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198" name="Google Shape;198;p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Píldora 3  |  Energía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1"/>
          <p:cNvSpPr/>
          <p:nvPr/>
        </p:nvSpPr>
        <p:spPr>
          <a:xfrm>
            <a:off x="6858000" y="4709160"/>
            <a:ext cx="2011680" cy="4343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ESG Ready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Energía renovable: ¿cuenta o no?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1"/>
          <p:cNvSpPr/>
          <p:nvPr/>
        </p:nvSpPr>
        <p:spPr>
          <a:xfrm>
            <a:off x="640080" y="1005840"/>
            <a:ext cx="3749040" cy="3200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6566" y="0"/>
                </a:moveTo>
                <a:close/>
                <a:lnTo>
                  <a:pt x="-6566" y="120000"/>
                </a:lnTo>
              </a:path>
              <a:path extrusionOk="0" fill="none" h="120000" w="120000">
                <a:moveTo>
                  <a:pt x="-6566" y="82804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02" name="Google Shape;202;p11"/>
          <p:cNvSpPr/>
          <p:nvPr/>
        </p:nvSpPr>
        <p:spPr>
          <a:xfrm>
            <a:off x="640080" y="1005840"/>
            <a:ext cx="3749040" cy="54864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03" name="Google Shape;203;p11"/>
          <p:cNvSpPr/>
          <p:nvPr/>
        </p:nvSpPr>
        <p:spPr>
          <a:xfrm>
            <a:off x="822960" y="1188720"/>
            <a:ext cx="3383280" cy="4572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Market-based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1"/>
          <p:cNvSpPr/>
          <p:nvPr/>
        </p:nvSpPr>
        <p:spPr>
          <a:xfrm>
            <a:off x="822960" y="1645920"/>
            <a:ext cx="3383280" cy="22860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Si tienes certificado de Garantía de Origen (GdO), puedes reportar emisiones cero por tu electricidad.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Pero siempre tienes que reportar cuántos kWh consumes. El consumo es el consumo, independientemente de la fuente.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4754880" y="1005840"/>
            <a:ext cx="3749040" cy="3200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06" name="Google Shape;206;p11"/>
          <p:cNvSpPr/>
          <p:nvPr/>
        </p:nvSpPr>
        <p:spPr>
          <a:xfrm>
            <a:off x="4754880" y="1005840"/>
            <a:ext cx="3749040" cy="54864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07" name="Google Shape;207;p11"/>
          <p:cNvSpPr/>
          <p:nvPr/>
        </p:nvSpPr>
        <p:spPr>
          <a:xfrm>
            <a:off x="4937760" y="1188720"/>
            <a:ext cx="3383280" cy="4572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Location-based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1"/>
          <p:cNvSpPr/>
          <p:nvPr/>
        </p:nvSpPr>
        <p:spPr>
          <a:xfrm>
            <a:off x="4937760" y="1645920"/>
            <a:ext cx="3383280" cy="22860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Usa el mix eléctrico del país para calcular emisiones. No importa tu contrato.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Muchos marcos te piden reportar con ambos métodos. Tenlo en cuenta al preparar tus datos.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9" name="Picture 208" descr="LOGO ISI 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34340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0047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2"/>
          <p:cNvSpPr/>
          <p:nvPr/>
        </p:nvSpPr>
        <p:spPr>
          <a:xfrm>
            <a:off x="0" y="0"/>
            <a:ext cx="109728" cy="5143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15" name="Google Shape;215;p12"/>
          <p:cNvSpPr/>
          <p:nvPr/>
        </p:nvSpPr>
        <p:spPr>
          <a:xfrm>
            <a:off x="457200" y="457200"/>
            <a:ext cx="137160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6000"/>
              <a:buFont typeface="Arial Black"/>
              <a:buNone/>
            </a:pPr>
            <a:r>
              <a:rPr b="0" i="0" lang="en-US" sz="60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04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2"/>
          <p:cNvSpPr/>
          <p:nvPr/>
        </p:nvSpPr>
        <p:spPr>
          <a:xfrm>
            <a:off x="457200" y="1463040"/>
            <a:ext cx="5486400" cy="12801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Residuos: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menos épica, más control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2"/>
          <p:cNvSpPr/>
          <p:nvPr/>
        </p:nvSpPr>
        <p:spPr>
          <a:xfrm>
            <a:off x="457200" y="29260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Bien gestionados, te ahorran dinero y problemas legales.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18" name="Google Shape;21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0" y="1828800"/>
            <a:ext cx="109728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pic>
        <p:nvPicPr>
          <p:cNvPr id="219" name="Picture 218" descr="LOGO ISI 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9486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3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25" name="Google Shape;225;p1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Píldora 4  |  Residuos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3"/>
          <p:cNvSpPr/>
          <p:nvPr/>
        </p:nvSpPr>
        <p:spPr>
          <a:xfrm>
            <a:off x="6858000" y="4709160"/>
            <a:ext cx="2011680" cy="4343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ESG Ready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3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¿Qué te van a pedir?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3"/>
          <p:cNvSpPr/>
          <p:nvPr/>
        </p:nvSpPr>
        <p:spPr>
          <a:xfrm>
            <a:off x="640080" y="1005840"/>
            <a:ext cx="7863840" cy="91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29" name="Google Shape;229;p13"/>
          <p:cNvSpPr/>
          <p:nvPr/>
        </p:nvSpPr>
        <p:spPr>
          <a:xfrm>
            <a:off x="640080" y="1005840"/>
            <a:ext cx="64008" cy="91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30" name="Google Shape;230;p13"/>
          <p:cNvSpPr/>
          <p:nvPr/>
        </p:nvSpPr>
        <p:spPr>
          <a:xfrm>
            <a:off x="960120" y="1188720"/>
            <a:ext cx="502920" cy="502920"/>
          </a:xfrm>
          <a:prstGeom prst="roundRect">
            <a:avLst>
              <a:gd name="adj" fmla="val 4000"/>
            </a:avLst>
          </a:pr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31" name="Google Shape;231;p13"/>
          <p:cNvSpPr/>
          <p:nvPr/>
        </p:nvSpPr>
        <p:spPr>
          <a:xfrm>
            <a:off x="960120" y="1188720"/>
            <a:ext cx="502920" cy="5029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800"/>
              <a:buFont typeface="Arial Black"/>
              <a:buNone/>
            </a:pPr>
            <a:r>
              <a:rPr b="0" i="0" lang="en-US" sz="18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3"/>
          <p:cNvSpPr/>
          <p:nvPr/>
        </p:nvSpPr>
        <p:spPr>
          <a:xfrm>
            <a:off x="1691640" y="1078992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Toneladas totales/año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3"/>
          <p:cNvSpPr/>
          <p:nvPr/>
        </p:nvSpPr>
        <p:spPr>
          <a:xfrm>
            <a:off x="169164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Pídele a tu gestor un resumen anual. Ahí está el dato.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3"/>
          <p:cNvSpPr/>
          <p:nvPr/>
        </p:nvSpPr>
        <p:spPr>
          <a:xfrm>
            <a:off x="640080" y="2103120"/>
            <a:ext cx="7863840" cy="91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35" name="Google Shape;235;p13"/>
          <p:cNvSpPr/>
          <p:nvPr/>
        </p:nvSpPr>
        <p:spPr>
          <a:xfrm>
            <a:off x="640080" y="2103120"/>
            <a:ext cx="64008" cy="91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36" name="Google Shape;236;p13"/>
          <p:cNvSpPr/>
          <p:nvPr/>
        </p:nvSpPr>
        <p:spPr>
          <a:xfrm>
            <a:off x="960120" y="2286000"/>
            <a:ext cx="502920" cy="502920"/>
          </a:xfrm>
          <a:prstGeom prst="roundRect">
            <a:avLst>
              <a:gd name="adj" fmla="val 4000"/>
            </a:avLst>
          </a:pr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37" name="Google Shape;237;p13"/>
          <p:cNvSpPr/>
          <p:nvPr/>
        </p:nvSpPr>
        <p:spPr>
          <a:xfrm>
            <a:off x="960120" y="2286000"/>
            <a:ext cx="502920" cy="5029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800"/>
              <a:buFont typeface="Arial Black"/>
              <a:buNone/>
            </a:pPr>
            <a:r>
              <a:rPr b="0" i="0" lang="en-US" sz="18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3"/>
          <p:cNvSpPr/>
          <p:nvPr/>
        </p:nvSpPr>
        <p:spPr>
          <a:xfrm>
            <a:off x="1691640" y="2176272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Peligrosos vs. No peligrosos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3"/>
          <p:cNvSpPr/>
          <p:nvPr/>
        </p:nvSpPr>
        <p:spPr>
          <a:xfrm>
            <a:off x="1691640" y="256032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Los peligrosos SIEMPRE con gestor autorizado y registro obligatorio.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3"/>
          <p:cNvSpPr/>
          <p:nvPr/>
        </p:nvSpPr>
        <p:spPr>
          <a:xfrm>
            <a:off x="640080" y="3200400"/>
            <a:ext cx="7863840" cy="91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41" name="Google Shape;241;p13"/>
          <p:cNvSpPr/>
          <p:nvPr/>
        </p:nvSpPr>
        <p:spPr>
          <a:xfrm>
            <a:off x="640080" y="3200400"/>
            <a:ext cx="64008" cy="91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42" name="Google Shape;242;p13"/>
          <p:cNvSpPr/>
          <p:nvPr/>
        </p:nvSpPr>
        <p:spPr>
          <a:xfrm>
            <a:off x="960120" y="3383280"/>
            <a:ext cx="502920" cy="502920"/>
          </a:xfrm>
          <a:prstGeom prst="roundRect">
            <a:avLst>
              <a:gd name="adj" fmla="val 4000"/>
            </a:avLst>
          </a:pr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43" name="Google Shape;243;p13"/>
          <p:cNvSpPr/>
          <p:nvPr/>
        </p:nvSpPr>
        <p:spPr>
          <a:xfrm>
            <a:off x="960120" y="3383280"/>
            <a:ext cx="502920" cy="5029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800"/>
              <a:buFont typeface="Arial Black"/>
              <a:buNone/>
            </a:pPr>
            <a:r>
              <a:rPr b="0" i="0" lang="en-US" sz="18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3"/>
          <p:cNvSpPr/>
          <p:nvPr/>
        </p:nvSpPr>
        <p:spPr>
          <a:xfrm>
            <a:off x="1691640" y="3273552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Destino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3"/>
          <p:cNvSpPr/>
          <p:nvPr/>
        </p:nvSpPr>
        <p:spPr>
          <a:xfrm>
            <a:off x="1691640" y="365760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% reciclaje, % vertedero, % valorización. Tu gestor lo documenta.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3"/>
          <p:cNvSpPr/>
          <p:nvPr/>
        </p:nvSpPr>
        <p:spPr>
          <a:xfrm>
            <a:off x="640080" y="3840480"/>
            <a:ext cx="7863840" cy="64008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47" name="Google Shape;247;p13"/>
          <p:cNvSpPr/>
          <p:nvPr/>
        </p:nvSpPr>
        <p:spPr>
          <a:xfrm>
            <a:off x="640080" y="3840480"/>
            <a:ext cx="64008" cy="64008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248" name="Google Shape;24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3931920"/>
            <a:ext cx="320040" cy="3200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249" name="Google Shape;249;p13"/>
          <p:cNvSpPr/>
          <p:nvPr/>
        </p:nvSpPr>
        <p:spPr>
          <a:xfrm>
            <a:off x="1371600" y="3840480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Cuidado con inflar la tasa de reciclaje. Esa cifra tiene que ser real y demostrable. La Ley 7/2022 va en serio.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Picture 249" descr="LOGO ISI 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43400"/>
            <a:ext cx="1097280" cy="2743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0047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4"/>
          <p:cNvSpPr/>
          <p:nvPr/>
        </p:nvSpPr>
        <p:spPr>
          <a:xfrm>
            <a:off x="0" y="0"/>
            <a:ext cx="109728" cy="5143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56" name="Google Shape;256;p14"/>
          <p:cNvSpPr/>
          <p:nvPr/>
        </p:nvSpPr>
        <p:spPr>
          <a:xfrm>
            <a:off x="457200" y="457200"/>
            <a:ext cx="137160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6000"/>
              <a:buFont typeface="Arial Black"/>
              <a:buNone/>
            </a:pPr>
            <a:r>
              <a:rPr b="0" i="0" lang="en-US" sz="60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05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4"/>
          <p:cNvSpPr/>
          <p:nvPr/>
        </p:nvSpPr>
        <p:spPr>
          <a:xfrm>
            <a:off x="457200" y="1463040"/>
            <a:ext cx="5486400" cy="12801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Agua: cuándo importa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y cómo tratarla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4"/>
          <p:cNvSpPr/>
          <p:nvPr/>
        </p:nvSpPr>
        <p:spPr>
          <a:xfrm>
            <a:off x="457200" y="29260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No todo el mundo tiene que medir el agua con lupa.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9" name="Google Shape;25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0" y="1828800"/>
            <a:ext cx="109728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pic>
        <p:nvPicPr>
          <p:cNvPr id="260" name="Picture 259" descr="LOGO ISI 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9486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5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66" name="Google Shape;266;p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Píldora 5  |  Agua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5"/>
          <p:cNvSpPr/>
          <p:nvPr/>
        </p:nvSpPr>
        <p:spPr>
          <a:xfrm>
            <a:off x="6858000" y="4709160"/>
            <a:ext cx="2011680" cy="4343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ESG Ready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5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¿Cuándo el agua es material?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5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El agua es relevante si cumples al menos una de estas condiciones: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5"/>
          <p:cNvSpPr/>
          <p:nvPr/>
        </p:nvSpPr>
        <p:spPr>
          <a:xfrm>
            <a:off x="640080" y="1371600"/>
            <a:ext cx="37490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71" name="Google Shape;271;p15"/>
          <p:cNvSpPr/>
          <p:nvPr/>
        </p:nvSpPr>
        <p:spPr>
          <a:xfrm>
            <a:off x="640080" y="1371600"/>
            <a:ext cx="64008" cy="109728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272" name="Google Shape;27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8680" y="1508760"/>
            <a:ext cx="320040" cy="3200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273" name="Google Shape;273;p15"/>
          <p:cNvSpPr/>
          <p:nvPr/>
        </p:nvSpPr>
        <p:spPr>
          <a:xfrm>
            <a:off x="1325880" y="1463040"/>
            <a:ext cx="2834640" cy="4114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 Medium"/>
                <a:ea typeface="Syne Medium"/>
                <a:cs typeface="Syne Medium"/>
                <a:sym typeface="Calibri"/>
              </a:rPr>
              <a:t>Tu proceso usa agua como insumo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5"/>
          <p:cNvSpPr/>
          <p:nvPr/>
        </p:nvSpPr>
        <p:spPr>
          <a:xfrm>
            <a:off x="1325880" y="1920240"/>
            <a:ext cx="283464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Alimentaria, textil, química, agricultura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5"/>
          <p:cNvSpPr/>
          <p:nvPr/>
        </p:nvSpPr>
        <p:spPr>
          <a:xfrm>
            <a:off x="4754880" y="1371600"/>
            <a:ext cx="37490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76" name="Google Shape;276;p15"/>
          <p:cNvSpPr/>
          <p:nvPr/>
        </p:nvSpPr>
        <p:spPr>
          <a:xfrm>
            <a:off x="4754880" y="1371600"/>
            <a:ext cx="64008" cy="109728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277" name="Google Shape;27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3480" y="1508760"/>
            <a:ext cx="320040" cy="3200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278" name="Google Shape;278;p15"/>
          <p:cNvSpPr/>
          <p:nvPr/>
        </p:nvSpPr>
        <p:spPr>
          <a:xfrm>
            <a:off x="5440680" y="1463040"/>
            <a:ext cx="2834640" cy="4114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 Medium"/>
                <a:ea typeface="Syne Medium"/>
                <a:cs typeface="Syne Medium"/>
                <a:sym typeface="Calibri"/>
              </a:rPr>
              <a:t>Consumo &gt; 5.000 m³/año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5"/>
          <p:cNvSpPr/>
          <p:nvPr/>
        </p:nvSpPr>
        <p:spPr>
          <a:xfrm>
            <a:off x="5440680" y="1920240"/>
            <a:ext cx="283464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Cifra significativa de consumo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5"/>
          <p:cNvSpPr/>
          <p:nvPr/>
        </p:nvSpPr>
        <p:spPr>
          <a:xfrm>
            <a:off x="640080" y="2743200"/>
            <a:ext cx="37490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81" name="Google Shape;281;p15"/>
          <p:cNvSpPr/>
          <p:nvPr/>
        </p:nvSpPr>
        <p:spPr>
          <a:xfrm>
            <a:off x="640080" y="2743200"/>
            <a:ext cx="64008" cy="109728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282" name="Google Shape;28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8680" y="2880360"/>
            <a:ext cx="320040" cy="3200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283" name="Google Shape;283;p15"/>
          <p:cNvSpPr/>
          <p:nvPr/>
        </p:nvSpPr>
        <p:spPr>
          <a:xfrm>
            <a:off x="1325880" y="2834640"/>
            <a:ext cx="2834640" cy="4114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 Medium"/>
                <a:ea typeface="Syne Medium"/>
                <a:cs typeface="Syne Medium"/>
                <a:sym typeface="Calibri"/>
              </a:rPr>
              <a:t>Aguas residuales con carga contaminante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5"/>
          <p:cNvSpPr/>
          <p:nvPr/>
        </p:nvSpPr>
        <p:spPr>
          <a:xfrm>
            <a:off x="1325880" y="3291840"/>
            <a:ext cx="283464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Necesitan tratamiento especial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5"/>
          <p:cNvSpPr/>
          <p:nvPr/>
        </p:nvSpPr>
        <p:spPr>
          <a:xfrm>
            <a:off x="4754880" y="2743200"/>
            <a:ext cx="37490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86" name="Google Shape;286;p15"/>
          <p:cNvSpPr/>
          <p:nvPr/>
        </p:nvSpPr>
        <p:spPr>
          <a:xfrm>
            <a:off x="4754880" y="2743200"/>
            <a:ext cx="64008" cy="109728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287" name="Google Shape;28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3480" y="2880360"/>
            <a:ext cx="320040" cy="3200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288" name="Google Shape;288;p15"/>
          <p:cNvSpPr/>
          <p:nvPr/>
        </p:nvSpPr>
        <p:spPr>
          <a:xfrm>
            <a:off x="5440680" y="2834640"/>
            <a:ext cx="2834640" cy="4114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 Medium"/>
                <a:ea typeface="Syne Medium"/>
                <a:cs typeface="Syne Medium"/>
                <a:sym typeface="Calibri"/>
              </a:rPr>
              <a:t>Zona de estrés hídrico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5"/>
          <p:cNvSpPr/>
          <p:nvPr/>
        </p:nvSpPr>
        <p:spPr>
          <a:xfrm>
            <a:off x="5440680" y="3291840"/>
            <a:ext cx="283464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Gran parte del sureste de España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5"/>
          <p:cNvSpPr/>
          <p:nvPr/>
        </p:nvSpPr>
        <p:spPr>
          <a:xfrm>
            <a:off x="640080" y="3977640"/>
            <a:ext cx="7863840" cy="502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91" name="Google Shape;291;p15"/>
          <p:cNvSpPr/>
          <p:nvPr/>
        </p:nvSpPr>
        <p:spPr>
          <a:xfrm>
            <a:off x="914400" y="397764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Si no cumples ninguna → reporta el dato básico (m³/año) y no pierdas el sueño.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2" name="Picture 291" descr="LOGO ISI 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4340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0047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6"/>
          <p:cNvSpPr/>
          <p:nvPr/>
        </p:nvSpPr>
        <p:spPr>
          <a:xfrm>
            <a:off x="0" y="0"/>
            <a:ext cx="109728" cy="5143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298" name="Google Shape;298;p16"/>
          <p:cNvSpPr/>
          <p:nvPr/>
        </p:nvSpPr>
        <p:spPr>
          <a:xfrm>
            <a:off x="457200" y="457200"/>
            <a:ext cx="137160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6000"/>
              <a:buFont typeface="Arial Black"/>
              <a:buNone/>
            </a:pPr>
            <a:r>
              <a:rPr b="0" i="0" lang="en-US" sz="60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06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6"/>
          <p:cNvSpPr/>
          <p:nvPr/>
        </p:nvSpPr>
        <p:spPr>
          <a:xfrm>
            <a:off x="457200" y="1463040"/>
            <a:ext cx="6400800" cy="12801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Emisiones: qué significa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CO₂ sin hacer un máster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6"/>
          <p:cNvSpPr/>
          <p:nvPr/>
        </p:nvSpPr>
        <p:spPr>
          <a:xfrm>
            <a:off x="457200" y="29260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Alcance 1, 2 y 3 explicados en cinco minutos.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01" name="Google Shape;30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0" y="1828800"/>
            <a:ext cx="109728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pic>
        <p:nvPicPr>
          <p:cNvPr id="302" name="Picture 301" descr="LOGO ISI 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9486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7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08" name="Google Shape;308;p1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Píldora 6  |  Emisiones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7"/>
          <p:cNvSpPr/>
          <p:nvPr/>
        </p:nvSpPr>
        <p:spPr>
          <a:xfrm>
            <a:off x="6858000" y="4709160"/>
            <a:ext cx="2011680" cy="4343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ESG Ready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7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Los tres alcances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7"/>
          <p:cNvSpPr/>
          <p:nvPr/>
        </p:nvSpPr>
        <p:spPr>
          <a:xfrm>
            <a:off x="640080" y="914400"/>
            <a:ext cx="2560320" cy="3474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12" name="Google Shape;312;p17"/>
          <p:cNvSpPr/>
          <p:nvPr/>
        </p:nvSpPr>
        <p:spPr>
          <a:xfrm>
            <a:off x="640080" y="914400"/>
            <a:ext cx="2560320" cy="54864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13" name="Google Shape;313;p17"/>
          <p:cNvSpPr/>
          <p:nvPr/>
        </p:nvSpPr>
        <p:spPr>
          <a:xfrm>
            <a:off x="822960" y="1097280"/>
            <a:ext cx="2194560" cy="7315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~10%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7"/>
          <p:cNvSpPr/>
          <p:nvPr/>
        </p:nvSpPr>
        <p:spPr>
          <a:xfrm>
            <a:off x="822960" y="1737360"/>
            <a:ext cx="2194560" cy="2743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típico pyme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7"/>
          <p:cNvSpPr/>
          <p:nvPr/>
        </p:nvSpPr>
        <p:spPr>
          <a:xfrm>
            <a:off x="822960" y="2103120"/>
            <a:ext cx="219456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Alcance 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7"/>
          <p:cNvSpPr/>
          <p:nvPr/>
        </p:nvSpPr>
        <p:spPr>
          <a:xfrm>
            <a:off x="822960" y="2423160"/>
            <a:ext cx="2194560" cy="2743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A0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Directas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7"/>
          <p:cNvSpPr/>
          <p:nvPr/>
        </p:nvSpPr>
        <p:spPr>
          <a:xfrm>
            <a:off x="822960" y="2788920"/>
            <a:ext cx="2194560" cy="13716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Lo que tu empresa quema: calderas, vehículos, grupos electrógenos.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7"/>
          <p:cNvSpPr/>
          <p:nvPr/>
        </p:nvSpPr>
        <p:spPr>
          <a:xfrm>
            <a:off x="3429000" y="914400"/>
            <a:ext cx="2560320" cy="3474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19" name="Google Shape;319;p17"/>
          <p:cNvSpPr/>
          <p:nvPr/>
        </p:nvSpPr>
        <p:spPr>
          <a:xfrm>
            <a:off x="3429000" y="914400"/>
            <a:ext cx="2560320" cy="54864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20" name="Google Shape;320;p17"/>
          <p:cNvSpPr/>
          <p:nvPr/>
        </p:nvSpPr>
        <p:spPr>
          <a:xfrm>
            <a:off x="3611880" y="1097280"/>
            <a:ext cx="2194560" cy="7315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Syne ExtraBold"/>
                <a:ea typeface="Syne ExtraBold"/>
                <a:cs typeface="Syne ExtraBold"/>
                <a:sym typeface="Arial Black"/>
              </a:rPr>
              <a:t>~15%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7"/>
          <p:cNvSpPr/>
          <p:nvPr/>
        </p:nvSpPr>
        <p:spPr>
          <a:xfrm>
            <a:off x="3611880" y="1737360"/>
            <a:ext cx="2194560" cy="2743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típico pyme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7"/>
          <p:cNvSpPr/>
          <p:nvPr/>
        </p:nvSpPr>
        <p:spPr>
          <a:xfrm>
            <a:off x="3611880" y="2103120"/>
            <a:ext cx="219456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Alcance 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/>
          <p:nvPr/>
        </p:nvSpPr>
        <p:spPr>
          <a:xfrm>
            <a:off x="3611880" y="2423160"/>
            <a:ext cx="2194560" cy="2743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A0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Electricidad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7"/>
          <p:cNvSpPr/>
          <p:nvPr/>
        </p:nvSpPr>
        <p:spPr>
          <a:xfrm>
            <a:off x="3611880" y="2788920"/>
            <a:ext cx="2194560" cy="13716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Emisiones de la central eléctrica que produce la electricidad que consumes.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7"/>
          <p:cNvSpPr/>
          <p:nvPr/>
        </p:nvSpPr>
        <p:spPr>
          <a:xfrm>
            <a:off x="6217920" y="914400"/>
            <a:ext cx="2560320" cy="3474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26" name="Google Shape;326;p17"/>
          <p:cNvSpPr/>
          <p:nvPr/>
        </p:nvSpPr>
        <p:spPr>
          <a:xfrm>
            <a:off x="6217920" y="914400"/>
            <a:ext cx="2560320" cy="54864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27" name="Google Shape;327;p17"/>
          <p:cNvSpPr/>
          <p:nvPr/>
        </p:nvSpPr>
        <p:spPr>
          <a:xfrm>
            <a:off x="6400800" y="1097280"/>
            <a:ext cx="2194560" cy="7315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~75%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7"/>
          <p:cNvSpPr/>
          <p:nvPr/>
        </p:nvSpPr>
        <p:spPr>
          <a:xfrm>
            <a:off x="6400800" y="1737360"/>
            <a:ext cx="2194560" cy="2743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típico pyme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7"/>
          <p:cNvSpPr/>
          <p:nvPr/>
        </p:nvSpPr>
        <p:spPr>
          <a:xfrm>
            <a:off x="6400800" y="2103120"/>
            <a:ext cx="219456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Alcance 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7"/>
          <p:cNvSpPr/>
          <p:nvPr/>
        </p:nvSpPr>
        <p:spPr>
          <a:xfrm>
            <a:off x="6400800" y="2423160"/>
            <a:ext cx="2194560" cy="2743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A0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Cadena de valor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7"/>
          <p:cNvSpPr/>
          <p:nvPr/>
        </p:nvSpPr>
        <p:spPr>
          <a:xfrm>
            <a:off x="6400800" y="2788920"/>
            <a:ext cx="2194560" cy="13716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Compras, transporte, viajes, desplazamientos, residuos... Todo lo demás.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2" name="Picture 331" descr="LOGO ISI 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34340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8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38" name="Google Shape;338;p1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Píldora 6  |  Emisiones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8"/>
          <p:cNvSpPr/>
          <p:nvPr/>
        </p:nvSpPr>
        <p:spPr>
          <a:xfrm>
            <a:off x="6858000" y="4709160"/>
            <a:ext cx="2011680" cy="4343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ESG Ready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8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La fórmula es simple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8"/>
          <p:cNvSpPr/>
          <p:nvPr/>
        </p:nvSpPr>
        <p:spPr>
          <a:xfrm>
            <a:off x="1371600" y="1005840"/>
            <a:ext cx="6400800" cy="1097280"/>
          </a:xfrm>
          <a:prstGeom prst="roundRect">
            <a:avLst>
              <a:gd name="adj" fmla="val 4000"/>
            </a:avLst>
          </a:prstGeom>
          <a:solidFill>
            <a:srgbClr val="150047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42" name="Google Shape;342;p18"/>
          <p:cNvSpPr/>
          <p:nvPr/>
        </p:nvSpPr>
        <p:spPr>
          <a:xfrm>
            <a:off x="1371600" y="1005840"/>
            <a:ext cx="640080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95EBDA"/>
                </a:solidFill>
                <a:latin typeface="Syne Bold"/>
                <a:ea typeface="Syne Bold"/>
                <a:cs typeface="Syne Bold"/>
                <a:sym typeface="Calibri"/>
              </a:rPr>
              <a:t>Dato de actividad  ×  Factor de emisión  =  tCO₂e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8"/>
          <p:cNvSpPr/>
          <p:nvPr/>
        </p:nvSpPr>
        <p:spPr>
          <a:xfrm>
            <a:off x="640080" y="2377440"/>
            <a:ext cx="3749040" cy="1645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44" name="Google Shape;344;p18"/>
          <p:cNvSpPr/>
          <p:nvPr/>
        </p:nvSpPr>
        <p:spPr>
          <a:xfrm>
            <a:off x="640080" y="2377440"/>
            <a:ext cx="64008" cy="164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45" name="Google Shape;345;p18"/>
          <p:cNvSpPr/>
          <p:nvPr/>
        </p:nvSpPr>
        <p:spPr>
          <a:xfrm>
            <a:off x="914400" y="246888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Ejemplo: Gasolina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8"/>
          <p:cNvSpPr/>
          <p:nvPr/>
        </p:nvSpPr>
        <p:spPr>
          <a:xfrm>
            <a:off x="914400" y="2880360"/>
            <a:ext cx="3200400" cy="9144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10.000 L × 2,31 kg CO₂/L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= 23,1 tCO₂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8"/>
          <p:cNvSpPr/>
          <p:nvPr/>
        </p:nvSpPr>
        <p:spPr>
          <a:xfrm>
            <a:off x="4754880" y="2377440"/>
            <a:ext cx="3749040" cy="1645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48" name="Google Shape;348;p18"/>
          <p:cNvSpPr/>
          <p:nvPr/>
        </p:nvSpPr>
        <p:spPr>
          <a:xfrm>
            <a:off x="4754880" y="2377440"/>
            <a:ext cx="64008" cy="164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49" name="Google Shape;349;p18"/>
          <p:cNvSpPr/>
          <p:nvPr/>
        </p:nvSpPr>
        <p:spPr>
          <a:xfrm>
            <a:off x="5029200" y="246888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Ejemplo: Electricidad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8"/>
          <p:cNvSpPr/>
          <p:nvPr/>
        </p:nvSpPr>
        <p:spPr>
          <a:xfrm>
            <a:off x="5029200" y="2880360"/>
            <a:ext cx="3200400" cy="9144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50.000 kWh × 0,22 kg CO₂/kWh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= 11 tCO₂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1" name="Picture 350" descr="LOGO ISI 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34340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0047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9"/>
          <p:cNvSpPr/>
          <p:nvPr/>
        </p:nvSpPr>
        <p:spPr>
          <a:xfrm>
            <a:off x="0" y="0"/>
            <a:ext cx="109728" cy="5143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57" name="Google Shape;357;p19"/>
          <p:cNvSpPr/>
          <p:nvPr/>
        </p:nvSpPr>
        <p:spPr>
          <a:xfrm>
            <a:off x="457200" y="457200"/>
            <a:ext cx="137160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6000"/>
              <a:buFont typeface="Arial Black"/>
              <a:buNone/>
            </a:pPr>
            <a:r>
              <a:rPr b="0" i="0" lang="en-US" sz="60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07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9"/>
          <p:cNvSpPr/>
          <p:nvPr/>
        </p:nvSpPr>
        <p:spPr>
          <a:xfrm>
            <a:off x="457200" y="1280160"/>
            <a:ext cx="5486400" cy="16459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Compras y proveedores: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la E que entra por la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puerta de atrás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9"/>
          <p:cNvSpPr/>
          <p:nvPr/>
        </p:nvSpPr>
        <p:spPr>
          <a:xfrm>
            <a:off x="457200" y="3108960"/>
            <a:ext cx="5943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Tu cadena de suministro es, con frecuencia, la mayor fuente de emisiones.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0" name="Google Shape;36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0" y="1828800"/>
            <a:ext cx="109728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pic>
        <p:nvPicPr>
          <p:cNvPr id="361" name="Picture 360" descr="LOGO ISI 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9486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0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67" name="Google Shape;367;p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Píldora 7  |  Compras y proveedores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0"/>
          <p:cNvSpPr/>
          <p:nvPr/>
        </p:nvSpPr>
        <p:spPr>
          <a:xfrm>
            <a:off x="6858000" y="4709160"/>
            <a:ext cx="2011680" cy="4343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ESG Ready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0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Tres niveles de madurez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20"/>
          <p:cNvSpPr/>
          <p:nvPr/>
        </p:nvSpPr>
        <p:spPr>
          <a:xfrm>
            <a:off x="640080" y="1005840"/>
            <a:ext cx="786384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71" name="Google Shape;371;p20"/>
          <p:cNvSpPr/>
          <p:nvPr/>
        </p:nvSpPr>
        <p:spPr>
          <a:xfrm>
            <a:off x="640080" y="1005840"/>
            <a:ext cx="64008" cy="10058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72" name="Google Shape;372;p20"/>
          <p:cNvSpPr/>
          <p:nvPr/>
        </p:nvSpPr>
        <p:spPr>
          <a:xfrm>
            <a:off x="914400" y="1097280"/>
            <a:ext cx="128016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600"/>
              <a:buFont typeface="Arial Black"/>
              <a:buNone/>
            </a:pPr>
            <a:r>
              <a:rPr b="0" i="0" lang="en-US" sz="16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Nivel 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0"/>
          <p:cNvSpPr/>
          <p:nvPr/>
        </p:nvSpPr>
        <p:spPr>
          <a:xfrm>
            <a:off x="914400" y="1463040"/>
            <a:ext cx="1280160" cy="2743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Básico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0"/>
          <p:cNvSpPr/>
          <p:nvPr/>
        </p:nvSpPr>
        <p:spPr>
          <a:xfrm>
            <a:off x="2377440" y="1097280"/>
            <a:ext cx="5852160" cy="8229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Tienes un listado de proveedores principales. Sabes qué les compras y cuánto. No hay criterios ambientales formales.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0"/>
          <p:cNvSpPr/>
          <p:nvPr/>
        </p:nvSpPr>
        <p:spPr>
          <a:xfrm>
            <a:off x="640080" y="2194560"/>
            <a:ext cx="786384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76" name="Google Shape;376;p20"/>
          <p:cNvSpPr/>
          <p:nvPr/>
        </p:nvSpPr>
        <p:spPr>
          <a:xfrm>
            <a:off x="640080" y="2194560"/>
            <a:ext cx="64008" cy="10058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77" name="Google Shape;377;p20"/>
          <p:cNvSpPr/>
          <p:nvPr/>
        </p:nvSpPr>
        <p:spPr>
          <a:xfrm>
            <a:off x="914400" y="2286000"/>
            <a:ext cx="128016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600"/>
              <a:buFont typeface="Arial Black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Syne ExtraBold"/>
                <a:ea typeface="Syne ExtraBold"/>
                <a:cs typeface="Syne ExtraBold"/>
                <a:sym typeface="Arial Black"/>
              </a:rPr>
              <a:t>Nivel 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0"/>
          <p:cNvSpPr/>
          <p:nvPr/>
        </p:nvSpPr>
        <p:spPr>
          <a:xfrm>
            <a:off x="914400" y="2651760"/>
            <a:ext cx="1280160" cy="2743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Intermedio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0"/>
          <p:cNvSpPr/>
          <p:nvPr/>
        </p:nvSpPr>
        <p:spPr>
          <a:xfrm>
            <a:off x="2377440" y="2286000"/>
            <a:ext cx="5852160" cy="8229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Has incluido preguntas ambientales en tu selección de proveedores: ¿ISO 14001? ¿Huella de carbono? Lo documentas.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0"/>
          <p:cNvSpPr/>
          <p:nvPr/>
        </p:nvSpPr>
        <p:spPr>
          <a:xfrm>
            <a:off x="640080" y="3383280"/>
            <a:ext cx="786384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81" name="Google Shape;381;p20"/>
          <p:cNvSpPr/>
          <p:nvPr/>
        </p:nvSpPr>
        <p:spPr>
          <a:xfrm>
            <a:off x="640080" y="3383280"/>
            <a:ext cx="64008" cy="10058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82" name="Google Shape;382;p20"/>
          <p:cNvSpPr/>
          <p:nvPr/>
        </p:nvSpPr>
        <p:spPr>
          <a:xfrm>
            <a:off x="914400" y="3474720"/>
            <a:ext cx="128016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600"/>
              <a:buFont typeface="Arial Black"/>
              <a:buNone/>
            </a:pPr>
            <a:r>
              <a:rPr b="0" i="0" lang="en-US" sz="16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Nivel 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0"/>
          <p:cNvSpPr/>
          <p:nvPr/>
        </p:nvSpPr>
        <p:spPr>
          <a:xfrm>
            <a:off x="914400" y="3840480"/>
            <a:ext cx="1280160" cy="2743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Avanzado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0"/>
          <p:cNvSpPr/>
          <p:nvPr/>
        </p:nvSpPr>
        <p:spPr>
          <a:xfrm>
            <a:off x="2377440" y="3474720"/>
            <a:ext cx="5852160" cy="8229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Pides datos concretos a proveedores clave: huella de carbono de productos, certificaciones, datos de ciclo de vida.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0"/>
          <p:cNvSpPr/>
          <p:nvPr/>
        </p:nvSpPr>
        <p:spPr>
          <a:xfrm>
            <a:off x="640080" y="3977640"/>
            <a:ext cx="7863840" cy="502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86" name="Google Shape;386;p20"/>
          <p:cNvSpPr/>
          <p:nvPr/>
        </p:nvSpPr>
        <p:spPr>
          <a:xfrm>
            <a:off x="914400" y="397764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Empieza por tus 10-15 proveedores que representen el 80% del gasto → pregúntales si tienen política ambiental.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7" name="Picture 386" descr="LOGO ISI 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34340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0047"/>
        </a:solid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21"/>
          <p:cNvSpPr/>
          <p:nvPr/>
        </p:nvSpPr>
        <p:spPr>
          <a:xfrm>
            <a:off x="0" y="0"/>
            <a:ext cx="109728" cy="5143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393" name="Google Shape;393;p21"/>
          <p:cNvSpPr/>
          <p:nvPr/>
        </p:nvSpPr>
        <p:spPr>
          <a:xfrm>
            <a:off x="457200" y="457200"/>
            <a:ext cx="137160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6000"/>
              <a:buFont typeface="Arial Black"/>
              <a:buNone/>
            </a:pPr>
            <a:r>
              <a:rPr b="0" i="0" lang="en-US" sz="60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08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1"/>
          <p:cNvSpPr/>
          <p:nvPr/>
        </p:nvSpPr>
        <p:spPr>
          <a:xfrm>
            <a:off x="457200" y="1463040"/>
            <a:ext cx="6400800" cy="12801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Objetivos realistas: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"mejorar" no es un eslogan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1"/>
          <p:cNvSpPr/>
          <p:nvPr/>
        </p:nvSpPr>
        <p:spPr>
          <a:xfrm>
            <a:off x="457200" y="2926080"/>
            <a:ext cx="5943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Un objetivo modesto pero real y cumplido vale más que diez promesas en el aire.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6" name="Google Shape;39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0" y="1828800"/>
            <a:ext cx="109728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pic>
        <p:nvPicPr>
          <p:cNvPr id="397" name="Picture 396" descr="LOGO ISI 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9486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22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03" name="Google Shape;403;p2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Píldora 8  |  Objetivos realistas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2"/>
          <p:cNvSpPr/>
          <p:nvPr/>
        </p:nvSpPr>
        <p:spPr>
          <a:xfrm>
            <a:off x="6858000" y="4709160"/>
            <a:ext cx="2011680" cy="4343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ESG Ready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22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4 características de un buen objetivo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2"/>
          <p:cNvSpPr/>
          <p:nvPr/>
        </p:nvSpPr>
        <p:spPr>
          <a:xfrm>
            <a:off x="640080" y="1005840"/>
            <a:ext cx="192024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07" name="Google Shape;407;p22"/>
          <p:cNvSpPr/>
          <p:nvPr/>
        </p:nvSpPr>
        <p:spPr>
          <a:xfrm>
            <a:off x="1234440" y="1188720"/>
            <a:ext cx="731520" cy="731520"/>
          </a:xfrm>
          <a:prstGeom prst="roundRect">
            <a:avLst>
              <a:gd name="adj" fmla="val 4000"/>
            </a:avLst>
          </a:pr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08" name="Google Shape;408;p22"/>
          <p:cNvSpPr/>
          <p:nvPr/>
        </p:nvSpPr>
        <p:spPr>
          <a:xfrm>
            <a:off x="1234440" y="1207008"/>
            <a:ext cx="731520" cy="71323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 Black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Syne ExtraBold"/>
                <a:ea typeface="Syne ExtraBold"/>
                <a:cs typeface="Syne ExtraBold"/>
                <a:sym typeface="Arial Black"/>
              </a:rPr>
              <a:t>1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2"/>
          <p:cNvSpPr/>
          <p:nvPr/>
        </p:nvSpPr>
        <p:spPr>
          <a:xfrm>
            <a:off x="777240" y="2103120"/>
            <a:ext cx="1645920" cy="4114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Específico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2"/>
          <p:cNvSpPr/>
          <p:nvPr/>
        </p:nvSpPr>
        <p:spPr>
          <a:xfrm>
            <a:off x="777240" y="2514600"/>
            <a:ext cx="1645920" cy="8229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No "reducir emisiones".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Sí "reducir Alcance 1 y 2".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2"/>
          <p:cNvSpPr/>
          <p:nvPr/>
        </p:nvSpPr>
        <p:spPr>
          <a:xfrm>
            <a:off x="2743200" y="1005840"/>
            <a:ext cx="192024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12" name="Google Shape;412;p22"/>
          <p:cNvSpPr/>
          <p:nvPr/>
        </p:nvSpPr>
        <p:spPr>
          <a:xfrm>
            <a:off x="3337560" y="1188720"/>
            <a:ext cx="731520" cy="731520"/>
          </a:xfrm>
          <a:prstGeom prst="roundRect">
            <a:avLst>
              <a:gd name="adj" fmla="val 4000"/>
            </a:avLst>
          </a:pr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13" name="Google Shape;413;p22"/>
          <p:cNvSpPr/>
          <p:nvPr/>
        </p:nvSpPr>
        <p:spPr>
          <a:xfrm>
            <a:off x="3337560" y="1207008"/>
            <a:ext cx="731520" cy="71323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 Black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Syne ExtraBold"/>
                <a:ea typeface="Syne ExtraBold"/>
                <a:cs typeface="Syne ExtraBold"/>
                <a:sym typeface="Arial Black"/>
              </a:rPr>
              <a:t>2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2"/>
          <p:cNvSpPr/>
          <p:nvPr/>
        </p:nvSpPr>
        <p:spPr>
          <a:xfrm>
            <a:off x="2880360" y="2103120"/>
            <a:ext cx="1645920" cy="4114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Medible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22"/>
          <p:cNvSpPr/>
          <p:nvPr/>
        </p:nvSpPr>
        <p:spPr>
          <a:xfrm>
            <a:off x="2880360" y="2514600"/>
            <a:ext cx="1645920" cy="8229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Tiene un número: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"un 10%", "15 toneladas".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2"/>
          <p:cNvSpPr/>
          <p:nvPr/>
        </p:nvSpPr>
        <p:spPr>
          <a:xfrm>
            <a:off x="4846320" y="1005840"/>
            <a:ext cx="192024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17" name="Google Shape;417;p22"/>
          <p:cNvSpPr/>
          <p:nvPr/>
        </p:nvSpPr>
        <p:spPr>
          <a:xfrm>
            <a:off x="5440680" y="1188720"/>
            <a:ext cx="731520" cy="731520"/>
          </a:xfrm>
          <a:prstGeom prst="roundRect">
            <a:avLst>
              <a:gd name="adj" fmla="val 4000"/>
            </a:avLst>
          </a:pr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18" name="Google Shape;418;p22"/>
          <p:cNvSpPr/>
          <p:nvPr/>
        </p:nvSpPr>
        <p:spPr>
          <a:xfrm>
            <a:off x="5440680" y="1207008"/>
            <a:ext cx="731520" cy="71323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 Black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Syne ExtraBold"/>
                <a:ea typeface="Syne ExtraBold"/>
                <a:cs typeface="Syne ExtraBold"/>
                <a:sym typeface="Arial Black"/>
              </a:rPr>
              <a:t>3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22"/>
          <p:cNvSpPr/>
          <p:nvPr/>
        </p:nvSpPr>
        <p:spPr>
          <a:xfrm>
            <a:off x="4983480" y="2103120"/>
            <a:ext cx="1645920" cy="4114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Con plazo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2"/>
          <p:cNvSpPr/>
          <p:nvPr/>
        </p:nvSpPr>
        <p:spPr>
          <a:xfrm>
            <a:off x="4983480" y="2514600"/>
            <a:ext cx="1645920" cy="8229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"Para 2027",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"en los próximos 3 años".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2"/>
          <p:cNvSpPr/>
          <p:nvPr/>
        </p:nvSpPr>
        <p:spPr>
          <a:xfrm>
            <a:off x="6949440" y="1005840"/>
            <a:ext cx="192024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22" name="Google Shape;422;p22"/>
          <p:cNvSpPr/>
          <p:nvPr/>
        </p:nvSpPr>
        <p:spPr>
          <a:xfrm>
            <a:off x="7543800" y="1188720"/>
            <a:ext cx="731520" cy="731520"/>
          </a:xfrm>
          <a:prstGeom prst="roundRect">
            <a:avLst>
              <a:gd name="adj" fmla="val 4000"/>
            </a:avLst>
          </a:prstGeom>
          <a:solidFill>
            <a:srgbClr val="2A3E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23" name="Google Shape;423;p22"/>
          <p:cNvSpPr/>
          <p:nvPr/>
        </p:nvSpPr>
        <p:spPr>
          <a:xfrm>
            <a:off x="7543800" y="1207008"/>
            <a:ext cx="731520" cy="713232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 Black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Syne ExtraBold"/>
                <a:ea typeface="Syne ExtraBold"/>
                <a:cs typeface="Syne ExtraBold"/>
                <a:sym typeface="Arial Black"/>
              </a:rPr>
              <a:t>4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2"/>
          <p:cNvSpPr/>
          <p:nvPr/>
        </p:nvSpPr>
        <p:spPr>
          <a:xfrm>
            <a:off x="7086600" y="2103120"/>
            <a:ext cx="1645920" cy="4114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Con año base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2"/>
          <p:cNvSpPr/>
          <p:nvPr/>
        </p:nvSpPr>
        <p:spPr>
          <a:xfrm>
            <a:off x="7086600" y="2514600"/>
            <a:ext cx="1645920" cy="8229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"Respecto a 2024".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Sin año base no hay progreso.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2"/>
          <p:cNvSpPr/>
          <p:nvPr/>
        </p:nvSpPr>
        <p:spPr>
          <a:xfrm>
            <a:off x="640080" y="3794760"/>
            <a:ext cx="7863840" cy="685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27" name="Google Shape;427;p22"/>
          <p:cNvSpPr/>
          <p:nvPr/>
        </p:nvSpPr>
        <p:spPr>
          <a:xfrm>
            <a:off x="914400" y="379476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"Reducir [indicador] un [X]% respecto a [año base], alcanzando [meta] para [fecha], mediante [acción]."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28" name="Picture 427" descr="LOGO ISI 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34340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0047"/>
        </a:solidFill>
      </p:bgPr>
    </p:bg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23"/>
          <p:cNvSpPr/>
          <p:nvPr/>
        </p:nvSpPr>
        <p:spPr>
          <a:xfrm>
            <a:off x="0" y="0"/>
            <a:ext cx="109728" cy="5143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34" name="Google Shape;434;p23"/>
          <p:cNvSpPr/>
          <p:nvPr/>
        </p:nvSpPr>
        <p:spPr>
          <a:xfrm>
            <a:off x="457200" y="457200"/>
            <a:ext cx="137160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6000"/>
              <a:buFont typeface="Arial Black"/>
              <a:buNone/>
            </a:pPr>
            <a:r>
              <a:rPr b="0" i="0" lang="en-US" sz="6000" u="none" cap="none" strike="noStrike">
                <a:solidFill>
                  <a:srgbClr val="95EBDA"/>
                </a:solidFill>
                <a:latin typeface="Syne ExtraBold"/>
                <a:ea typeface="Syne ExtraBold"/>
                <a:cs typeface="Syne ExtraBold"/>
                <a:sym typeface="Arial Black"/>
              </a:rPr>
              <a:t>09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3"/>
          <p:cNvSpPr/>
          <p:nvPr/>
        </p:nvSpPr>
        <p:spPr>
          <a:xfrm>
            <a:off x="457200" y="1463040"/>
            <a:ext cx="6400800" cy="12801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Checklist ambiental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yne Bold"/>
                <a:ea typeface="Syne Bold"/>
                <a:cs typeface="Syne Bold"/>
                <a:sym typeface="Calibri"/>
              </a:rPr>
              <a:t>defendible (modo pyme)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3"/>
          <p:cNvSpPr/>
          <p:nvPr/>
        </p:nvSpPr>
        <p:spPr>
          <a:xfrm>
            <a:off x="457200" y="29260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No perfecta, no exhaustiva, pero sí defendible.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37" name="Google Shape;4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0" y="1828800"/>
            <a:ext cx="109728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pic>
        <p:nvPicPr>
          <p:cNvPr id="438" name="Picture 437" descr="LOGO ISI 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9486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24"/>
          <p:cNvSpPr/>
          <p:nvPr/>
        </p:nvSpPr>
        <p:spPr>
          <a:xfrm>
            <a:off x="0" y="4709160"/>
            <a:ext cx="9144000" cy="4343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44" name="Google Shape;444;p2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Píldora 9  |  Checklist ambiental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4"/>
          <p:cNvSpPr/>
          <p:nvPr/>
        </p:nvSpPr>
        <p:spPr>
          <a:xfrm>
            <a:off x="6858000" y="4709160"/>
            <a:ext cx="2011680" cy="43434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ESG Ready  ·  ISI × Dcycle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4"/>
          <p:cNvSpPr/>
          <p:nvPr/>
        </p:nvSpPr>
        <p:spPr>
          <a:xfrm>
            <a:off x="640080" y="18288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150047"/>
                </a:solidFill>
                <a:latin typeface="Syne ExtraBold"/>
                <a:ea typeface="Syne ExtraBold"/>
                <a:cs typeface="Syne ExtraBold"/>
                <a:sym typeface="Arial Black"/>
              </a:rPr>
              <a:t>Tu checklist mínimo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24"/>
          <p:cNvSpPr/>
          <p:nvPr/>
        </p:nvSpPr>
        <p:spPr>
          <a:xfrm>
            <a:off x="640080" y="822960"/>
            <a:ext cx="37490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48" name="Google Shape;448;p24"/>
          <p:cNvSpPr/>
          <p:nvPr/>
        </p:nvSpPr>
        <p:spPr>
          <a:xfrm>
            <a:off x="640080" y="822960"/>
            <a:ext cx="64008" cy="10515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449" name="Google Shape;44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8680" y="932688"/>
            <a:ext cx="292608" cy="292608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450" name="Google Shape;450;p24"/>
          <p:cNvSpPr/>
          <p:nvPr/>
        </p:nvSpPr>
        <p:spPr>
          <a:xfrm>
            <a:off x="1280160" y="896112"/>
            <a:ext cx="292608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Datos básicos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4"/>
          <p:cNvSpPr/>
          <p:nvPr/>
        </p:nvSpPr>
        <p:spPr>
          <a:xfrm>
            <a:off x="1280160" y="1280160"/>
            <a:ext cx="2926080" cy="5029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Electricidad kWh, gas, agua m³, residuos t, flota 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4"/>
          <p:cNvSpPr/>
          <p:nvPr/>
        </p:nvSpPr>
        <p:spPr>
          <a:xfrm>
            <a:off x="640080" y="2057400"/>
            <a:ext cx="37490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53" name="Google Shape;453;p24"/>
          <p:cNvSpPr/>
          <p:nvPr/>
        </p:nvSpPr>
        <p:spPr>
          <a:xfrm>
            <a:off x="640080" y="2057400"/>
            <a:ext cx="64008" cy="10515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454" name="Google Shape;45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8680" y="2167128"/>
            <a:ext cx="292608" cy="292608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455" name="Google Shape;455;p24"/>
          <p:cNvSpPr/>
          <p:nvPr/>
        </p:nvSpPr>
        <p:spPr>
          <a:xfrm>
            <a:off x="1280160" y="2130552"/>
            <a:ext cx="292608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Cálculos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24"/>
          <p:cNvSpPr/>
          <p:nvPr/>
        </p:nvSpPr>
        <p:spPr>
          <a:xfrm>
            <a:off x="1280160" y="2514600"/>
            <a:ext cx="2926080" cy="5029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Huella carbono Alcance 1+2 con factores MITECO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4"/>
          <p:cNvSpPr/>
          <p:nvPr/>
        </p:nvSpPr>
        <p:spPr>
          <a:xfrm>
            <a:off x="640080" y="3291840"/>
            <a:ext cx="37490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58" name="Google Shape;458;p24"/>
          <p:cNvSpPr/>
          <p:nvPr/>
        </p:nvSpPr>
        <p:spPr>
          <a:xfrm>
            <a:off x="640080" y="3291840"/>
            <a:ext cx="64008" cy="10515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459" name="Google Shape;45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8680" y="3401568"/>
            <a:ext cx="292608" cy="292608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460" name="Google Shape;460;p24"/>
          <p:cNvSpPr/>
          <p:nvPr/>
        </p:nvSpPr>
        <p:spPr>
          <a:xfrm>
            <a:off x="1280160" y="3364992"/>
            <a:ext cx="292608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Documentación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4"/>
          <p:cNvSpPr/>
          <p:nvPr/>
        </p:nvSpPr>
        <p:spPr>
          <a:xfrm>
            <a:off x="1280160" y="3749040"/>
            <a:ext cx="2926080" cy="5029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Facturas energía 2 años, GdOs, gestor residuos, agua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4"/>
          <p:cNvSpPr/>
          <p:nvPr/>
        </p:nvSpPr>
        <p:spPr>
          <a:xfrm>
            <a:off x="4754880" y="822960"/>
            <a:ext cx="37490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63" name="Google Shape;463;p24"/>
          <p:cNvSpPr/>
          <p:nvPr/>
        </p:nvSpPr>
        <p:spPr>
          <a:xfrm>
            <a:off x="4754880" y="822960"/>
            <a:ext cx="64008" cy="10515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464" name="Google Shape;46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3480" y="932688"/>
            <a:ext cx="292608" cy="292608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465" name="Google Shape;465;p24"/>
          <p:cNvSpPr/>
          <p:nvPr/>
        </p:nvSpPr>
        <p:spPr>
          <a:xfrm>
            <a:off x="5394960" y="896112"/>
            <a:ext cx="292608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Proveedores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4"/>
          <p:cNvSpPr/>
          <p:nvPr/>
        </p:nvSpPr>
        <p:spPr>
          <a:xfrm>
            <a:off x="5394960" y="1280160"/>
            <a:ext cx="2926080" cy="5029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Top 10-15 proveedores con info ambiental básica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4"/>
          <p:cNvSpPr/>
          <p:nvPr/>
        </p:nvSpPr>
        <p:spPr>
          <a:xfrm>
            <a:off x="4754880" y="2057400"/>
            <a:ext cx="37490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68" name="Google Shape;468;p24"/>
          <p:cNvSpPr/>
          <p:nvPr/>
        </p:nvSpPr>
        <p:spPr>
          <a:xfrm>
            <a:off x="4754880" y="2057400"/>
            <a:ext cx="64008" cy="10515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pic>
        <p:nvPicPr>
          <p:cNvPr descr="preencoded.png" id="469" name="Google Shape;46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3480" y="2167128"/>
            <a:ext cx="292608" cy="292608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sp>
        <p:nvSpPr>
          <p:cNvPr id="470" name="Google Shape;470;p24"/>
          <p:cNvSpPr/>
          <p:nvPr/>
        </p:nvSpPr>
        <p:spPr>
          <a:xfrm>
            <a:off x="5394960" y="2130552"/>
            <a:ext cx="2926080" cy="36576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105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50047"/>
                </a:solidFill>
                <a:latin typeface="Syne SemiBold"/>
                <a:ea typeface="Syne SemiBold"/>
                <a:cs typeface="Syne SemiBold"/>
                <a:sym typeface="Calibri"/>
              </a:rPr>
              <a:t>Objetivos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4"/>
          <p:cNvSpPr/>
          <p:nvPr/>
        </p:nvSpPr>
        <p:spPr>
          <a:xfrm>
            <a:off x="5394960" y="2514600"/>
            <a:ext cx="2926080" cy="50292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50047"/>
                </a:solidFill>
                <a:latin typeface="Syne"/>
                <a:ea typeface="Syne"/>
                <a:cs typeface="Syne"/>
                <a:sym typeface="Calibri"/>
              </a:rPr>
              <a:t>Al menos 1 objetivo medible + año base + responsable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4"/>
          <p:cNvSpPr/>
          <p:nvPr/>
        </p:nvSpPr>
        <p:spPr>
          <a:xfrm>
            <a:off x="640080" y="3931920"/>
            <a:ext cx="7863840" cy="5486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73" name="Google Shape;473;p24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5EBDA"/>
                </a:solidFill>
                <a:latin typeface="Syne Medium"/>
                <a:ea typeface="Syne Medium"/>
                <a:cs typeface="Syne Medium"/>
                <a:sym typeface="Calibri"/>
              </a:rPr>
              <a:t>Test: Si mañana te llega un cuestionario ambiental, ¿podrías responderlo en &lt; 1 semana con datos reales?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74" name="Picture 473" descr="LOGO ISI 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4340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0047"/>
        </a:solidFill>
      </p:bgPr>
    </p:bg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25"/>
          <p:cNvSpPr/>
          <p:nvPr/>
        </p:nvSpPr>
        <p:spPr>
          <a:xfrm>
            <a:off x="0" y="0"/>
            <a:ext cx="9144000" cy="54864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80" name="Google Shape;480;p25"/>
          <p:cNvSpPr/>
          <p:nvPr/>
        </p:nvSpPr>
        <p:spPr>
          <a:xfrm>
            <a:off x="6217920" y="-1371600"/>
            <a:ext cx="5029200" cy="5029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81" name="Google Shape;481;p25"/>
          <p:cNvSpPr/>
          <p:nvPr/>
        </p:nvSpPr>
        <p:spPr>
          <a:xfrm>
            <a:off x="6858000" y="2286000"/>
            <a:ext cx="3657600" cy="3657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50047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82" name="Google Shape;482;p25"/>
          <p:cNvSpPr/>
          <p:nvPr/>
        </p:nvSpPr>
        <p:spPr>
          <a:xfrm>
            <a:off x="731520" y="731520"/>
            <a:ext cx="5486400" cy="109728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 Black"/>
              <a:buNone/>
            </a:pPr>
            <a:r>
              <a:rPr b="0" i="0" lang="en-US" sz="4800" u="none" cap="none" strike="noStrike">
                <a:solidFill>
                  <a:srgbClr val="FFFFFF"/>
                </a:solidFill>
                <a:latin typeface="Syne ExtraBold"/>
                <a:ea typeface="Syne ExtraBold"/>
                <a:cs typeface="Syne ExtraBold"/>
                <a:sym typeface="Arial Black"/>
              </a:rPr>
              <a:t>Gracias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5"/>
          <p:cNvSpPr/>
          <p:nvPr/>
        </p:nvSpPr>
        <p:spPr>
          <a:xfrm>
            <a:off x="731520" y="1828800"/>
            <a:ext cx="2286000" cy="36576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95EBD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>
                <a:solidFill/>
                <a:latin typeface="Syne"/>
                <a:ea typeface="Syne"/>
                <a:cs typeface="Syne"/>
              </a:rPr>
              <a:t/>
            </a:r>
            <a:endParaRPr/>
          </a:p>
        </p:txBody>
      </p:sp>
      <p:sp>
        <p:nvSpPr>
          <p:cNvPr id="484" name="Google Shape;484;p25"/>
          <p:cNvSpPr/>
          <p:nvPr/>
        </p:nvSpPr>
        <p:spPr>
          <a:xfrm>
            <a:off x="731520" y="2103120"/>
            <a:ext cx="5486400" cy="13716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Calibri"/>
              </a:rPr>
              <a:t>No necesitáis ser expertos en medio ambiente.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Calibri"/>
              </a:rPr>
              <a:t>Necesitáis tener datos, tenerlos organizados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Calibri"/>
              </a:rPr>
              <a:t>y poder responder con solvencia.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5"/>
          <p:cNvSpPr/>
          <p:nvPr/>
        </p:nvSpPr>
        <p:spPr>
          <a:xfrm>
            <a:off x="731520" y="42062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E0D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5EBDA"/>
                </a:solidFill>
                <a:latin typeface="Syne"/>
                <a:ea typeface="Syne"/>
                <a:cs typeface="Syne"/>
                <a:sym typeface="Calibri"/>
              </a:rPr>
              <a:t>Institute for Sustainable Innovation  ×  Dcycle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86" name="Google Shape;48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89520" y="1645920"/>
            <a:ext cx="914400" cy="914400"/>
          </a:xfrm>
          <a:prstGeom prst="roundRect">
            <a:avLst>
              <a:gd name="adj" fmla="val 4000"/>
            </a:avLst>
          </a:prstGeom>
          <a:noFill/>
          <a:ln>
            <a:noFill/>
          </a:ln>
        </p:spPr>
      </p:pic>
      <p:pic>
        <p:nvPicPr>
          <p:cNvPr id="487" name="Picture 486" descr="LOGO ISI 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94860"/>
            <a:ext cx="1097280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2026-02-12T07:15:39Z</dcterms:created>
  <dc:creator>Luis – Dcycle</dc:creator>
</cp:coreProperties>
</file>