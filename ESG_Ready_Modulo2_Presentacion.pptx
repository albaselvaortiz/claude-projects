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embeddedFontLst>
    <p:embeddedFont>
      <p:font typeface="Arial Black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znPDn6aEtcFsALlahCdNWmAWx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11" Type="http://schemas.openxmlformats.org/officeDocument/2006/relationships/image" Target="../media/image12.png"/><Relationship Id="rId10" Type="http://schemas.openxmlformats.org/officeDocument/2006/relationships/image" Target="../media/image24.png"/><Relationship Id="rId9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167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167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54864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ESG Ready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5544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Módulo 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219456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" y="24688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"E" sin dramas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31520" y="32004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Impacto ambiental que se entiende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9 píldoras, un mapa claro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868680"/>
            <a:ext cx="13716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710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00584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La E no es ecología: es impactos y costes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00584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Tu huella en 5 preguntas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2039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0584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Energía: el dato que siempre te piden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24231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00584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Residuos: menos épica, más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" y="2807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005840" y="2770632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Agua: cuándo importa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80560" y="12710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4846320" y="12344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Emisiones: CO₂ sin hacer un máster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0560" y="1655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4846320" y="1618488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Compras y proveedores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80560" y="20391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846320" y="2002536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Objetivos realistas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80560" y="24231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4846320" y="2386584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Checklist ambiental defendible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ESG Ready  ·  Módulo 2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E no es ecología: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impactos y costes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292608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 "E" va de entender qué impactos ambientales genera tu empresa y cuánto te cuestan.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Tres fuerzas que empujan la "E"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008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4008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22960" y="14173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Regulación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22960" y="196596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La CSRD obliga a las grandes a reportar, y ellas piden datos a sus proveedores. Si eres proveedor, te va a llegar.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42900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342900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B4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611880" y="14173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Mercado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11880" y="196596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Clientes, bancos y fondos piden información ambiental antes de trabajar contigo. Es requisito, no cortesía.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217920" y="1188720"/>
            <a:ext cx="2560320" cy="2926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217920" y="118872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400800" y="14173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Eficiencia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0" y="1965960"/>
            <a:ext cx="21945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Medir tu impacto ambiental casi siempre revela ineficiencias que te están costando dinero.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1  |  La E no es ecología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El error más común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1097280"/>
            <a:ext cx="7863900" cy="18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005840" y="1188720"/>
            <a:ext cx="7132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"Esto va de tener datos, saber qué te piden, responder con solvencia y, de paso, identificar dónde puedes ahorrar."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0080" y="3291840"/>
            <a:ext cx="786384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40080" y="3291840"/>
            <a:ext cx="73152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3474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1463040" y="338328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Ejemplo: Una empresa industrial que mide su consumo energético por línea de producción suele descubrir que hay una línea que consume un 20-30% más por mantenimiento deficiente. Eso no es ecología: es cuenta de resultados.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 huella 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preguntas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Dónde suele estar lo gordo de tu impacto ambiental.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Las 5 preguntas clave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960120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0080" y="960120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881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1417320" y="960120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1. ¿Cuánto pagas de luz y gas al año?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126480" y="960120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Si &gt;20K€/año → tema material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1673352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40080" y="1673352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18013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/>
          <p:nvPr/>
        </p:nvSpPr>
        <p:spPr>
          <a:xfrm>
            <a:off x="1417320" y="1673352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2. ¿Qué haces con lo que sobra?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126480" y="1673352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Residuos: gestor autorizado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40080" y="2386584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640080" y="2386584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5146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1417320" y="2386584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3. ¿El agua es relevante en tu actividad?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126480" y="2386584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Depende del sector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3099816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3099816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227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1417320" y="3099816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4. ¿Tienes flota o viajes frecuentes?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126480" y="3099816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Transporte = emisiones + coste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3813048"/>
            <a:ext cx="7863840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" y="3813048"/>
            <a:ext cx="64008" cy="62179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9410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417320" y="3813048"/>
            <a:ext cx="4572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5. ¿Qué compras y a quién?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26480" y="3813048"/>
            <a:ext cx="21945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&gt;70% huella en compras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2  |  Tu huella en 5 preguntas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914400" y="731520"/>
            <a:ext cx="2743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8000"/>
              <a:buFont typeface="Arial Black"/>
              <a:buNone/>
            </a:pPr>
            <a:r>
              <a:rPr b="0" i="0" lang="en-US" sz="8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80%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00" y="23774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impacto ambiental de la mayoría de pymes se concentra en 2-3 áreas.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303520" y="457200"/>
            <a:ext cx="3474720" cy="3840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16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577840" y="914400"/>
            <a:ext cx="29260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intentes medirlo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todo a la vez.</a:t>
            </a: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Identifica tus 2-3 temas gordos y empieza por ahí.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14630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Energía: el dato que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casi siempre te van a pedir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 fácil de obtener, está ligado a emisiones de CO₂ y es un coste que puedes optimizar.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Los 3 datos básicos de energía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46304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1463040" y="13258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Electricidad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" y="26974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kWh/año por centro de trabajo.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Está en tu factura de la comercializadora.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42900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425196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4251960" y="13258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Gas natural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3611880" y="26974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kWh o m³/año.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 distribuidora te da el consumo.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217920" y="1097280"/>
            <a:ext cx="2560320" cy="2286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7040880" y="1280160"/>
            <a:ext cx="91440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7040880" y="1325880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400800" y="23317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Otros combustibles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Gasóleo calefacción, biomasa, etc.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los tienes, son tus litros o kWh.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0080" y="3657600"/>
            <a:ext cx="7863840" cy="822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0" name="Google Shape;1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7947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1371600" y="370332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Consejo: Crea una tabla con 12 filas (una por mes) con columnas para kWh electricidad, kWh gas, coste electricidad y coste gas. Con eso ya tienes el 80% del trabajo hecho.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3  |  Energía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Energía renovable: ¿cuenta o no?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6566" y="0"/>
                </a:moveTo>
                <a:close/>
                <a:lnTo>
                  <a:pt x="-6566" y="120000"/>
                </a:lnTo>
              </a:path>
              <a:path extrusionOk="0" fill="none" h="120000" w="120000">
                <a:moveTo>
                  <a:pt x="-6566" y="82804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400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822960" y="1188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Market-based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22960" y="164592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 tienes certificado de Garantía de Origen (GdO), puedes reportar emisiones cero por tu electricidad.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Pero siempre tienes que reportar cuántos kWh consumes. El consumo es el consumo, independientemente de la fuente.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754880" y="1005840"/>
            <a:ext cx="3749040" cy="3200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4754880" y="1005840"/>
            <a:ext cx="374904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937760" y="1188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Location-based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937760" y="164592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Usa el mix eléctrico del país para calcular emisiones. No importa tu contrato.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Muchos marcos te piden reportar con ambos métodos. Tenlo en cuenta al preparar tus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Residuos: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menos épica, más control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Bien gestionados, te ahorran dinero y problemas legales.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4  |  Residuos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¿Qué te van a pedir?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0080" y="100584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640080" y="100584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960120" y="1188720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60120" y="1188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691640" y="107899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Toneladas totales/año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691640" y="1463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Pídele a tu gestor un resumen anual. Ahí está el dato.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40080" y="210312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640080" y="210312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960120" y="2286000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96012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691640" y="217627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Peligrosos vs. No peligrosos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691640" y="25603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Los peligrosos SIEMPRE con gestor autorizado y registro obligatorio.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3200400"/>
            <a:ext cx="786384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640080" y="3200400"/>
            <a:ext cx="64008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960120" y="3383280"/>
            <a:ext cx="50292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960120" y="3383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800"/>
              <a:buFont typeface="Arial Black"/>
              <a:buNone/>
            </a:pPr>
            <a:r>
              <a:rPr b="0" i="0" lang="en-US" sz="18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1691640" y="3273552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Destino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691640" y="3657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% reciclaje, % vertedero, % valorización. Tu gestor lo documenta.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40080" y="3840480"/>
            <a:ext cx="78638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640080" y="3840480"/>
            <a:ext cx="64008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931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3"/>
          <p:cNvSpPr/>
          <p:nvPr/>
        </p:nvSpPr>
        <p:spPr>
          <a:xfrm>
            <a:off x="1371600" y="384048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Cuidado con inflar la tasa de reciclaje. Esa cifra tiene que ser real y demostrable. La Ley 7/2022 va en serio.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Agua: cuándo importa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cómo tratarla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todo el mundo tiene que medir el agua con lupa.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5  |  Agua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¿Cuándo el agua es material?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 agua es relevante si cumples al menos una de estas condiciones: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640080" y="1371600"/>
            <a:ext cx="374904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6400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5087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5"/>
          <p:cNvSpPr/>
          <p:nvPr/>
        </p:nvSpPr>
        <p:spPr>
          <a:xfrm>
            <a:off x="1325880" y="1463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Tu proceso usa agua como insumo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325880" y="1920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Alimentaria, textil, química, agricultura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754880" y="1371600"/>
            <a:ext cx="374904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4754880" y="13716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15087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5440680" y="1463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Consumo &gt; 5.000 m³/año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40680" y="1920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Cifra significativa de consumo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640080" y="2743200"/>
            <a:ext cx="374904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6400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8803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5"/>
          <p:cNvSpPr/>
          <p:nvPr/>
        </p:nvSpPr>
        <p:spPr>
          <a:xfrm>
            <a:off x="1325880" y="28346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Aguas residuales con carga contaminante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325880" y="32918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Necesitan tratamiento especial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4754880" y="2743200"/>
            <a:ext cx="374904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4754880" y="2743200"/>
            <a:ext cx="64008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803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/>
          <p:nvPr/>
        </p:nvSpPr>
        <p:spPr>
          <a:xfrm>
            <a:off x="5440680" y="28346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Zona de estrés hídrico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440680" y="32918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Gran parte del sureste de España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Si no cumples ninguna → reporta el dato básico (m³/año) y no pierdas el sueño.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57200" y="14630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Emisiones: qué significa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CO₂ sin hacer un máster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Alcance 1, 2 y 3 explicados en cinco minutos.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Los tres alcances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40080" y="914400"/>
            <a:ext cx="2560320" cy="3474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/>
          <p:nvPr/>
        </p:nvSpPr>
        <p:spPr>
          <a:xfrm>
            <a:off x="64008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822960" y="10972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EF4444"/>
                </a:solidFill>
                <a:latin typeface="Arial Black"/>
                <a:ea typeface="Arial Black"/>
                <a:cs typeface="Arial Black"/>
                <a:sym typeface="Arial Black"/>
              </a:rPr>
              <a:t>~10%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22960" y="17373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82296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Alcance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822960" y="2423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Directas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822960" y="27889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Lo que tu empresa quema: calderas, vehículos, grupos electrógenos.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3429000" y="914400"/>
            <a:ext cx="2560320" cy="3474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342900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3611880" y="10972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~15%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3611880" y="17373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61188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Alcance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611880" y="2423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Electricidad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3611880" y="27889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Emisiones de la central eléctrica que produce la electricidad que consumes.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6217920" y="914400"/>
            <a:ext cx="2560320" cy="3474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"/>
          <p:cNvSpPr/>
          <p:nvPr/>
        </p:nvSpPr>
        <p:spPr>
          <a:xfrm>
            <a:off x="6217920" y="914400"/>
            <a:ext cx="256032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6400800" y="109728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Arial Black"/>
              <a:buNone/>
            </a:pPr>
            <a:r>
              <a:rPr b="0" i="0" lang="en-US" sz="36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~75%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6400800" y="17373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típico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Alcance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A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A0"/>
                </a:solidFill>
                <a:latin typeface="Calibri"/>
                <a:ea typeface="Calibri"/>
                <a:cs typeface="Calibri"/>
                <a:sym typeface="Calibri"/>
              </a:rPr>
              <a:t>Cadena de valor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400800" y="27889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Compras, transporte, viajes, desplazamientos, residuos... Todo lo demás.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6  |  Emisiones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La fórmula es simple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1371600" y="1005840"/>
            <a:ext cx="6400800" cy="10972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Dato de actividad  ×  Factor de emisión  =  tCO₂e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640080" y="2377440"/>
            <a:ext cx="374904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400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Ejemplo: Gasolina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914400" y="28803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10.000 L × 2,31 kg CO₂/L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= 23,1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754880" y="2377440"/>
            <a:ext cx="3749040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4754880" y="2377440"/>
            <a:ext cx="64008" cy="164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5029200" y="24688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Ejemplo: Electricidad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029200" y="28803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50.000 kWh × 0,22 kg CO₂/kWh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= 11 tCO₂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9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Compras y proveedores: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E que entra por la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puerta de atrás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457200" y="31089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Tu cadena de suministro es, con frecuencia, la mayor fuente de emisiones.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7  |  Compras y proveedores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Tres niveles de madurez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40080" y="1005840"/>
            <a:ext cx="7863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0"/>
          <p:cNvSpPr/>
          <p:nvPr/>
        </p:nvSpPr>
        <p:spPr>
          <a:xfrm>
            <a:off x="640080" y="100584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914400" y="10972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Nivel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914400" y="14630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Básico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377440" y="109728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Tienes un listado de proveedores principales. Sabes qué les compras y cuánto. No hay criterios ambientales formales.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40080" y="2194560"/>
            <a:ext cx="7863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640080" y="219456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914400" y="2286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Nivel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914400" y="26517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2377440" y="228600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Has incluido preguntas ambientales en tu selección de proveedores: ¿ISO 14001? ¿Huella de carbono? Lo documentas.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40080" y="3383280"/>
            <a:ext cx="7863840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640080" y="3383280"/>
            <a:ext cx="64008" cy="1005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914400" y="34747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600"/>
              <a:buFont typeface="Arial Black"/>
              <a:buNone/>
            </a:pPr>
            <a:r>
              <a:rPr b="0" i="0" lang="en-US" sz="1600" u="none" cap="none" strike="noStrike">
                <a:solidFill>
                  <a:srgbClr val="8B5CF6"/>
                </a:solidFill>
                <a:latin typeface="Arial Black"/>
                <a:ea typeface="Arial Black"/>
                <a:cs typeface="Arial Black"/>
                <a:sym typeface="Arial Black"/>
              </a:rPr>
              <a:t>Nivel 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914400" y="38404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Avanzado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2377440" y="3474720"/>
            <a:ext cx="5852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Pides datos concretos a proveedores clave: huella de carbono de productos, certificaciones, datos de ciclo de vida.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640080" y="3977640"/>
            <a:ext cx="7863840" cy="502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914400" y="39776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Empieza por tus 10-15 proveedores que representen el 80% del gasto → pregúntales si tienen política ambiental.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1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457200" y="14630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Objetivos realistas: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"mejorar" no es un eslogan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29260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 objetivo modesto pero real y cumplido vale más que diez promesas en el aire.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6" name="Google Shape;3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2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8  |  Objetivos realistas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4 características de un buen objetivo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2"/>
          <p:cNvSpPr/>
          <p:nvPr/>
        </p:nvSpPr>
        <p:spPr>
          <a:xfrm>
            <a:off x="640080" y="1005840"/>
            <a:ext cx="1920240" cy="2560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123444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2"/>
          <p:cNvSpPr/>
          <p:nvPr/>
        </p:nvSpPr>
        <p:spPr>
          <a:xfrm>
            <a:off x="1234440" y="1207008"/>
            <a:ext cx="731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777240" y="21031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Específico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77724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"reducir emisiones".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Sí "reducir Alcance 1 y 2".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2743200" y="1005840"/>
            <a:ext cx="1920240" cy="2560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/>
          <p:cNvSpPr/>
          <p:nvPr/>
        </p:nvSpPr>
        <p:spPr>
          <a:xfrm>
            <a:off x="333756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3337560" y="1207008"/>
            <a:ext cx="731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2880360" y="21031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Medible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288036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Tiene un número: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"un 10%", "15 toneladas".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4846320" y="1005840"/>
            <a:ext cx="1920240" cy="2560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544068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2"/>
          <p:cNvSpPr/>
          <p:nvPr/>
        </p:nvSpPr>
        <p:spPr>
          <a:xfrm>
            <a:off x="5440680" y="1207008"/>
            <a:ext cx="731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4983480" y="21031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Con plazo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498348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"Para 2027",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"en los próximos 3 años".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6949440" y="1005840"/>
            <a:ext cx="1920240" cy="2560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7543800" y="1188720"/>
            <a:ext cx="731520" cy="731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7543800" y="1207008"/>
            <a:ext cx="731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7086600" y="21031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Con año 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708660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"Respecto a 2024".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Sin año base no hay progreso.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640080" y="3794760"/>
            <a:ext cx="7863840" cy="6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914400" y="379476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"Reducir [indicador] un [X]% respecto a [año base], alcanzando [meta] para [fecha], mediante [acción]."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3"/>
          <p:cNvSpPr/>
          <p:nvPr/>
        </p:nvSpPr>
        <p:spPr>
          <a:xfrm>
            <a:off x="0" y="0"/>
            <a:ext cx="109728" cy="51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3"/>
          <p:cNvSpPr/>
          <p:nvPr/>
        </p:nvSpPr>
        <p:spPr>
          <a:xfrm>
            <a:off x="457200" y="4572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6000"/>
              <a:buFont typeface="Arial Black"/>
              <a:buNone/>
            </a:pPr>
            <a:r>
              <a:rPr b="0" i="0" lang="en-US" sz="6000" u="none" cap="none" strike="noStrike">
                <a:solidFill>
                  <a:srgbClr val="5CE0D2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457200" y="1463040"/>
            <a:ext cx="6400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Checklist ambiental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defendible (modo pyme)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457200" y="292608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perfecta, no exhaustiva, pero sí defendible.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1828800"/>
            <a:ext cx="1097280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0" y="4709160"/>
            <a:ext cx="9144000" cy="4343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Píldora 9  |  Checklist ambiental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6858000" y="4709160"/>
            <a:ext cx="2011680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ESG Ready  ·  ISI × Dcycle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640080" y="1828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2400"/>
              <a:buFont typeface="Arial Black"/>
              <a:buNone/>
            </a:pPr>
            <a:r>
              <a:rPr b="0" i="0" lang="en-US" sz="2400" u="none" cap="none" strike="noStrike">
                <a:solidFill>
                  <a:srgbClr val="151050"/>
                </a:solidFill>
                <a:latin typeface="Arial Black"/>
                <a:ea typeface="Arial Black"/>
                <a:cs typeface="Arial Black"/>
                <a:sym typeface="Arial Black"/>
              </a:rPr>
              <a:t>Tu checklist mínimo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640080" y="822960"/>
            <a:ext cx="3749040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4"/>
          <p:cNvSpPr/>
          <p:nvPr/>
        </p:nvSpPr>
        <p:spPr>
          <a:xfrm>
            <a:off x="6400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932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4"/>
          <p:cNvSpPr/>
          <p:nvPr/>
        </p:nvSpPr>
        <p:spPr>
          <a:xfrm>
            <a:off x="1280160" y="89611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Datos básicos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1280160" y="12801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Electricidad kWh, gas, agua m³, residuos t, flota 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640080" y="2057400"/>
            <a:ext cx="3749040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640080" y="205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4" name="Google Shape;4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1671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4"/>
          <p:cNvSpPr/>
          <p:nvPr/>
        </p:nvSpPr>
        <p:spPr>
          <a:xfrm>
            <a:off x="1280160" y="21305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Cálculos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1280160" y="25146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Huella carbono Alcance 1+2 con factores MITECO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640080" y="3291840"/>
            <a:ext cx="3749040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/>
          <p:nvPr/>
        </p:nvSpPr>
        <p:spPr>
          <a:xfrm>
            <a:off x="640080" y="329184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9" name="Google Shape;4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4015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1280160" y="336499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Documentación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280160" y="37490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Facturas energía 2 años, GdOs, gestor residuos, agua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4754880" y="822960"/>
            <a:ext cx="3749040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4754880" y="82296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932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4"/>
          <p:cNvSpPr/>
          <p:nvPr/>
        </p:nvSpPr>
        <p:spPr>
          <a:xfrm>
            <a:off x="5394960" y="89611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Proveedores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5394960" y="12801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Top 10-15 proveedores con info ambiental básica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4754880" y="2057400"/>
            <a:ext cx="3749040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4754880" y="2057400"/>
            <a:ext cx="64008" cy="1051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9" name="Google Shape;4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16712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4"/>
          <p:cNvSpPr/>
          <p:nvPr/>
        </p:nvSpPr>
        <p:spPr>
          <a:xfrm>
            <a:off x="5394960" y="21305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0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1050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5394960" y="25146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 menos 1 objetivo medible + año base + responsable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640080" y="3931920"/>
            <a:ext cx="78638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51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4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Test: Si mañana te llega un cuestionario ambiental, ¿podrías responderlo en &lt; 1 semana con datos reales?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05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5"/>
          <p:cNvSpPr/>
          <p:nvPr/>
        </p:nvSpPr>
        <p:spPr>
          <a:xfrm>
            <a:off x="0" y="0"/>
            <a:ext cx="9144000" cy="5486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6217920" y="-1371600"/>
            <a:ext cx="5029200" cy="5029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1670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68580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1670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731520" y="73152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Gracias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731520" y="1828800"/>
            <a:ext cx="22860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5C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5"/>
          <p:cNvSpPr/>
          <p:nvPr/>
        </p:nvSpPr>
        <p:spPr>
          <a:xfrm>
            <a:off x="731520" y="210312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necesitáis ser expertos en medio ambiente.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Necesitáis tener datos, tenerlos organizados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 poder responder con solvencia.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E0D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E0D2"/>
                </a:solidFill>
                <a:latin typeface="Calibri"/>
                <a:ea typeface="Calibri"/>
                <a:cs typeface="Calibri"/>
                <a:sym typeface="Calibri"/>
              </a:rPr>
              <a:t>Institute for Sustainable Innovation  ×  Dcycle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64592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2026-02-12T07:15:39Z</dcterms:created>
  <dc:creator>Luis – Dcycle</dc:creator>
</cp:coreProperties>
</file>