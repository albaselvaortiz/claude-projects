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5143500" cy="9144000"/>
  <p:embeddedFontLst>
    <p:embeddedFont>
      <p:font typeface="Arial Black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znPDn6aEtcFsALlahCdNWmAWx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font" Target="fonts/ArialBlack-regular.fntdata"/><Relationship Id="rId3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5.png"/><Relationship Id="rId7" Type="http://schemas.openxmlformats.org/officeDocument/2006/relationships/image" Target="../media/image10.png"/><Relationship Id="rId8" Type="http://schemas.openxmlformats.org/officeDocument/2006/relationships/image" Target="../media/image23.png"/><Relationship Id="rId9" Type="http://schemas.openxmlformats.org/officeDocument/2006/relationships/image" Target="../media/image9.png"/><Relationship Id="rId10" Type="http://schemas.openxmlformats.org/officeDocument/2006/relationships/image" Target="../media/image24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217920" y="-1371600"/>
            <a:ext cx="5029200" cy="502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0" y="2286000"/>
            <a:ext cx="36576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548640"/>
            <a:ext cx="54864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ESG Ready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5544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Módulo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2194560"/>
            <a:ext cx="22860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" y="2468880"/>
            <a:ext cx="6400800" cy="8229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La "E" sin dramas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Impacto ambiental que se entiende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Institute for Sustainable Innovation  ×  Dcycle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645920"/>
            <a:ext cx="914400" cy="9144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26" name="Picture 25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9 píldoras, un mapa claro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868680"/>
            <a:ext cx="13716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71016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1005840" y="12344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01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La E no es ecología: es impactos y costes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655064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005840" y="16184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02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Tu huella en 5 preguntas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039112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1005840" y="200253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03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Energía: el dato que siempre te piden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2423160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005840" y="238658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04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Residuos: menos épica, más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2807208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005840" y="277063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05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Agua: cuándo importa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80560" y="1271016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4846320" y="12344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06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Emisiones: CO₂ sin hacer un máster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80560" y="1655064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4846320" y="16184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07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Compras y proveedores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80560" y="2039112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4846320" y="200253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08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Objetivos realistas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80560" y="2423160"/>
            <a:ext cx="256032" cy="2560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4846320" y="238658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09</a:t>
            </a: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  Checklist ambiental defendible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ESG Ready  ·  Módulo 2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Picture 52" descr="LOGO ISI BLA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463040"/>
            <a:ext cx="5486400" cy="12801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La E no es ecología: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es impactos y costes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2926080"/>
            <a:ext cx="5486400" cy="7315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La "E" va de entender qué impactos ambientales genera tu empresa y cuánto te cuestan.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63" name="Picture 62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1  |  La E no es ecología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Tres fuerzas que empujan la "E"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008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4008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22960" y="1417320"/>
            <a:ext cx="2194560" cy="4572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Regulación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22960" y="1965960"/>
            <a:ext cx="2194560" cy="18288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La CSRD obliga a las grandes a reportar, y ellas piden datos a sus proveedores. Si eres proveedor, te va a llegar.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42900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42900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611880" y="1417320"/>
            <a:ext cx="2194560" cy="4572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Mercado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11880" y="1965960"/>
            <a:ext cx="2194560" cy="18288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Clientes, bancos y fondos piden información ambiental antes de trabajar contigo. Es requisito, no cortesía.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21792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21792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400800" y="1417320"/>
            <a:ext cx="2194560" cy="4572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Eficiencia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0" y="1965960"/>
            <a:ext cx="2194560" cy="18288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Medir tu impacto ambiental casi siempre revela ineficiencias que te están costando dinero.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Picture 83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1  |  La E no es ecología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El error más común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1097280"/>
            <a:ext cx="7863900" cy="1828800"/>
          </a:xfrm>
          <a:prstGeom prst="roundRect">
            <a:avLst>
              <a:gd name="adj" fmla="val 4000"/>
            </a:avLst>
          </a:prstGeom>
          <a:solidFill>
            <a:srgbClr val="1500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005840" y="1188720"/>
            <a:ext cx="7132320" cy="1645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"Esto va de tener datos, saber qué te piden, responder con solvencia y, de paso, identificar dónde puedes ahorrar."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0080" y="3291840"/>
            <a:ext cx="78638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0080" y="3291840"/>
            <a:ext cx="73152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474720"/>
            <a:ext cx="3657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1463040" y="3383280"/>
            <a:ext cx="6766560" cy="9144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Ejemplo: Una empresa industrial que mide su consumo energético por línea de producción suele descubrir que hay una línea que consume un 20-30% más por mantenimiento deficiente. Eso no es ecología: es cuenta de resultados.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Picture 98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1463040"/>
            <a:ext cx="5486400" cy="12801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Tu huella 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5 preguntas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Dónde suele estar lo gordo de tu impacto ambiental.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109" name="Picture 108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2  |  Tu huella en 5 preguntas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Las 5 preguntas clave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0080" y="960120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40080" y="960120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88136"/>
            <a:ext cx="347472" cy="34747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1417320" y="960120"/>
            <a:ext cx="457200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1. ¿Cuánto pagas de luz y gas al año?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126480" y="960120"/>
            <a:ext cx="219456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Si &gt;20K€/año → tema material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1673352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40080" y="1673352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01368"/>
            <a:ext cx="347472" cy="34747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1417320" y="1673352"/>
            <a:ext cx="457200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2. ¿Qué haces con lo que sobra?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126480" y="1673352"/>
            <a:ext cx="219456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Residuos: gestor autorizado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40080" y="2386584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40080" y="2386584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514600"/>
            <a:ext cx="347472" cy="34747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1417320" y="2386584"/>
            <a:ext cx="457200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3. ¿El agua es relevante en tu actividad?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126480" y="2386584"/>
            <a:ext cx="219456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Depende del sector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" y="3099816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0080" y="3099816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227832"/>
            <a:ext cx="347472" cy="34747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1417320" y="3099816"/>
            <a:ext cx="457200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4. ¿Tienes flota o viajes frecuentes?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126480" y="3099816"/>
            <a:ext cx="219456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Transporte = emisiones + coste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" y="3813048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40080" y="3813048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941064"/>
            <a:ext cx="347472" cy="34747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1417320" y="3813048"/>
            <a:ext cx="457200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5. ¿Qué compras y a quién?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126480" y="3813048"/>
            <a:ext cx="2194560" cy="62179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&gt;70% huella en compras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Picture 142" descr="LOGO ISI BL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2  |  Tu huella en 5 preguntas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914400" y="731520"/>
            <a:ext cx="2743200" cy="18288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8000"/>
              <a:buFont typeface="Arial Black"/>
              <a:buNone/>
            </a:pPr>
            <a:r>
              <a:rPr b="0" i="0" lang="en-US" sz="8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80%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14400" y="2377440"/>
            <a:ext cx="3657600" cy="9144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del impacto ambiental de la mayoría de pymes se concentra en 2-3 áreas.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303520" y="457200"/>
            <a:ext cx="3474720" cy="3840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5577840" y="914400"/>
            <a:ext cx="2926080" cy="32004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Calibri"/>
              </a:rPr>
              <a:t>No intentes medirlo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Syne SemiBold"/>
                <a:ea typeface="Syne SemiBold"/>
                <a:cs typeface="Syne SemiBold"/>
                <a:sym typeface="Calibri"/>
              </a:rPr>
              <a:t>todo a la vez.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Identifica tus 2-3 temas gordos y empieza por ahí.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Picture 154" descr="LOGO ISI 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1463040"/>
            <a:ext cx="6400800" cy="12801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Energía: el dato que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casi siempre te van a pedir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29260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Es fácil de obtener, está ligado a emisiones de CO₂ y es un coste que puedes optimizar.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165" name="Picture 164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3  |  Energía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Los 3 datos básicos de energía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4008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46304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1463040" y="1325880"/>
            <a:ext cx="914400" cy="8686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22960" y="2331720"/>
            <a:ext cx="21945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Electricidad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22960" y="2697480"/>
            <a:ext cx="2194560" cy="5943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kWh/año por centro de trabajo.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Está en tu factura de la comercializadora.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42900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425196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4251960" y="1325880"/>
            <a:ext cx="914400" cy="8686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611880" y="2331720"/>
            <a:ext cx="21945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Gas natural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611880" y="2697480"/>
            <a:ext cx="2194560" cy="5943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kWh o m³/año.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Tu distribuidora te da el consumo.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21792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704088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7040880" y="1325880"/>
            <a:ext cx="914400" cy="8686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400800" y="2331720"/>
            <a:ext cx="21945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Otros combustibles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400800" y="2697480"/>
            <a:ext cx="2194560" cy="5943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Gasóleo calefacción, biomasa, etc.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Si los tienes, son tus litros o kWh.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40080" y="3657600"/>
            <a:ext cx="786384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794760"/>
            <a:ext cx="3657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1371600" y="370332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Consejo: Crea una tabla con 12 filas (una por mes) con columnas para kWh electricidad, kWh gas, coste electricidad y coste gas. Con eso ya tienes el 80% del trabajo hecho.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Picture 191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3  |  Energía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Energía renovable: ¿cuenta o no?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40080" y="1005840"/>
            <a:ext cx="3749040" cy="320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566" y="0"/>
                </a:moveTo>
                <a:close/>
                <a:lnTo>
                  <a:pt x="-6566" y="120000"/>
                </a:lnTo>
              </a:path>
              <a:path extrusionOk="0" fill="none" h="120000" w="120000">
                <a:moveTo>
                  <a:pt x="-6566" y="82804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640080" y="1005840"/>
            <a:ext cx="374904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822960" y="1188720"/>
            <a:ext cx="3383280" cy="4572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Market-based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22960" y="1645920"/>
            <a:ext cx="3383280" cy="22860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Si tienes certificado de Garantía de Origen (GdO), puedes reportar emisiones cero por tu electricidad.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Pero siempre tienes que reportar cuántos kWh consumes. El consumo es el consumo, independientemente de la fuente.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754880" y="1005840"/>
            <a:ext cx="3749040" cy="320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4754880" y="1005840"/>
            <a:ext cx="374904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937760" y="1188720"/>
            <a:ext cx="3383280" cy="4572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Location-based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937760" y="1645920"/>
            <a:ext cx="3383280" cy="22860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Usa el mix eléctrico del país para calcular emisiones. No importa tu contrato.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Muchos marcos te piden reportar con ambos métodos. Tenlo en cuenta al preparar tus datos.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Picture 208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04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57200" y="1463040"/>
            <a:ext cx="5486400" cy="12801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Residuos: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menos épica, más control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Bien gestionados, te ahorran dinero y problemas legales.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219" name="Picture 218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4  |  Residuos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¿Qué te van a pedir?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40080" y="100584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640080" y="100584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960120" y="1188720"/>
            <a:ext cx="502920" cy="502920"/>
          </a:xfrm>
          <a:prstGeom prst="roundRect">
            <a:avLst>
              <a:gd name="adj" fmla="val 4000"/>
            </a:avLst>
          </a:pr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960120" y="1188720"/>
            <a:ext cx="502920" cy="502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691640" y="107899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Toneladas totales/año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69164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Pídele a tu gestor un resumen anual. Ahí está el dato.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40080" y="210312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640080" y="210312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960120" y="2286000"/>
            <a:ext cx="502920" cy="502920"/>
          </a:xfrm>
          <a:prstGeom prst="roundRect">
            <a:avLst>
              <a:gd name="adj" fmla="val 4000"/>
            </a:avLst>
          </a:pr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960120" y="2286000"/>
            <a:ext cx="502920" cy="502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691640" y="217627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Peligrosos vs. No peligrosos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691640" y="2560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Los peligrosos SIEMPRE con gestor autorizado y registro obligatorio.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0080" y="320040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640080" y="320040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960120" y="3383280"/>
            <a:ext cx="502920" cy="502920"/>
          </a:xfrm>
          <a:prstGeom prst="roundRect">
            <a:avLst>
              <a:gd name="adj" fmla="val 4000"/>
            </a:avLst>
          </a:pr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960120" y="3383280"/>
            <a:ext cx="502920" cy="502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1691640" y="327355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Destino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691640" y="3657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% reciclaje, % vertedero, % valorización. Tu gestor lo documenta.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40080" y="3840480"/>
            <a:ext cx="78638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640080" y="3840480"/>
            <a:ext cx="64008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48" name="Google Shape;2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931920"/>
            <a:ext cx="320040" cy="3200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>
            <a:off x="1371600" y="384048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Cuidado con inflar la tasa de reciclaje. Esa cifra tiene que ser real y demostrable. La Ley 7/2022 va en serio.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Picture 249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05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457200" y="1463040"/>
            <a:ext cx="5486400" cy="12801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Agua: cuándo importa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y cómo tratarla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No todo el mundo tiene que medir el agua con lupa.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260" name="Picture 259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5  |  Agua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¿Cuándo el agua es material?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El agua es relevante si cumples al menos una de estas condiciones: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640080" y="1371600"/>
            <a:ext cx="37490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640080" y="13716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72" name="Google Shape;2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08760"/>
            <a:ext cx="320040" cy="3200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273" name="Google Shape;273;p15"/>
          <p:cNvSpPr/>
          <p:nvPr/>
        </p:nvSpPr>
        <p:spPr>
          <a:xfrm>
            <a:off x="1325880" y="1463040"/>
            <a:ext cx="2834640" cy="4114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Tu proceso usa agua como insumo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325880" y="1920240"/>
            <a:ext cx="283464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Alimentaria, textil, química, agricultura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4754880" y="1371600"/>
            <a:ext cx="37490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4754880" y="13716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77" name="Google Shape;2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508760"/>
            <a:ext cx="320040" cy="3200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278" name="Google Shape;278;p15"/>
          <p:cNvSpPr/>
          <p:nvPr/>
        </p:nvSpPr>
        <p:spPr>
          <a:xfrm>
            <a:off x="5440680" y="1463040"/>
            <a:ext cx="2834640" cy="4114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Consumo &gt; 5.000 m³/año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440680" y="1920240"/>
            <a:ext cx="283464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Cifra significativa de consumo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40080" y="2743200"/>
            <a:ext cx="37490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640080" y="27432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82" name="Google Shape;2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880360"/>
            <a:ext cx="320040" cy="3200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283" name="Google Shape;283;p15"/>
          <p:cNvSpPr/>
          <p:nvPr/>
        </p:nvSpPr>
        <p:spPr>
          <a:xfrm>
            <a:off x="1325880" y="2834640"/>
            <a:ext cx="2834640" cy="4114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Aguas residuales con carga contaminante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325880" y="3291840"/>
            <a:ext cx="283464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Necesitan tratamiento especial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754880" y="2743200"/>
            <a:ext cx="374904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4754880" y="27432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287" name="Google Shape;2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880360"/>
            <a:ext cx="320040" cy="3200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288" name="Google Shape;288;p15"/>
          <p:cNvSpPr/>
          <p:nvPr/>
        </p:nvSpPr>
        <p:spPr>
          <a:xfrm>
            <a:off x="5440680" y="2834640"/>
            <a:ext cx="2834640" cy="4114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 Medium"/>
                <a:ea typeface="Syne Medium"/>
                <a:cs typeface="Syne Medium"/>
                <a:sym typeface="Calibri"/>
              </a:rPr>
              <a:t>Zona de estrés hídrico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440680" y="3291840"/>
            <a:ext cx="283464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Gran parte del sureste de España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640080" y="3977640"/>
            <a:ext cx="786384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Si no cumples ninguna → reporta el dato básico (m³/año) y no pierdas el sueño.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Picture 291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06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457200" y="1463040"/>
            <a:ext cx="6400800" cy="12801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Emisiones: qué significa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CO₂ sin hacer un máster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Alcance 1, 2 y 3 explicados en cinco minutos.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302" name="Picture 301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6  |  Emisiones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Los tres alcances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640080" y="914400"/>
            <a:ext cx="25603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64008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822960" y="1097280"/>
            <a:ext cx="2194560" cy="7315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~10%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822960" y="1737360"/>
            <a:ext cx="21945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822960" y="2103120"/>
            <a:ext cx="21945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Alcance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822960" y="2423160"/>
            <a:ext cx="21945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Directas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822960" y="2788920"/>
            <a:ext cx="2194560" cy="13716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Lo que tu empresa quema: calderas, vehículos, grupos electrógenos.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3429000" y="914400"/>
            <a:ext cx="25603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42900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3611880" y="1097280"/>
            <a:ext cx="2194560" cy="7315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~15%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3611880" y="1737360"/>
            <a:ext cx="21945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3611880" y="2103120"/>
            <a:ext cx="21945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Alcance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3611880" y="2423160"/>
            <a:ext cx="21945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Electricidad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3611880" y="2788920"/>
            <a:ext cx="2194560" cy="13716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Emisiones de la central eléctrica que produce la electricidad que consumes.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6217920" y="914400"/>
            <a:ext cx="25603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621792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6400800" y="1097280"/>
            <a:ext cx="2194560" cy="7315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~75%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6400800" y="1737360"/>
            <a:ext cx="21945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6400800" y="2103120"/>
            <a:ext cx="21945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Alcance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400800" y="2423160"/>
            <a:ext cx="21945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Cadena de valor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400800" y="2788920"/>
            <a:ext cx="2194560" cy="13716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Compras, transporte, viajes, desplazamientos, residuos... Todo lo demás.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Picture 331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6  |  Emisiones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La fórmula es simple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1371600" y="1005840"/>
            <a:ext cx="6400800" cy="1097280"/>
          </a:xfrm>
          <a:prstGeom prst="roundRect">
            <a:avLst>
              <a:gd name="adj" fmla="val 4000"/>
            </a:avLst>
          </a:prstGeom>
          <a:solidFill>
            <a:srgbClr val="1500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1371600" y="1005840"/>
            <a:ext cx="64008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95EBDA"/>
                </a:solidFill>
                <a:latin typeface="Syne Bold"/>
                <a:ea typeface="Syne Bold"/>
                <a:cs typeface="Syne Bold"/>
                <a:sym typeface="Calibri"/>
              </a:rPr>
              <a:t>Dato de actividad  ×  Factor de emisión  =  tCO₂e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640080" y="2377440"/>
            <a:ext cx="374904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640080" y="2377440"/>
            <a:ext cx="64008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Ejemplo: Gasolina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914400" y="2880360"/>
            <a:ext cx="3200400" cy="9144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10.000 L × 2,31 kg CO₂/L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= 23,1 tCO₂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754880" y="2377440"/>
            <a:ext cx="374904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4754880" y="2377440"/>
            <a:ext cx="64008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502920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Ejemplo: Electricidad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029200" y="2880360"/>
            <a:ext cx="3200400" cy="9144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50.000 kWh × 0,22 kg CO₂/kWh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= 11 tCO₂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Picture 350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07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457200" y="1280160"/>
            <a:ext cx="5486400" cy="1645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Compras y proveedores: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la E que entra por la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puerta de atrás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457200" y="310896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Tu cadena de suministro es, con frecuencia, la mayor fuente de emisiones.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361" name="Picture 360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7  |  Compras y proveedores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Tres niveles de madurez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40080" y="1005840"/>
            <a:ext cx="786384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71" name="Google Shape;371;p20"/>
          <p:cNvSpPr/>
          <p:nvPr/>
        </p:nvSpPr>
        <p:spPr>
          <a:xfrm>
            <a:off x="640080" y="100584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914400" y="1097280"/>
            <a:ext cx="12801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Nivel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914400" y="1463040"/>
            <a:ext cx="12801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Básico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377440" y="1097280"/>
            <a:ext cx="5852160" cy="8229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Tienes un listado de proveedores principales. Sabes qué les compras y cuánto. No hay criterios ambientales formales.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40080" y="2194560"/>
            <a:ext cx="786384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640080" y="219456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914400" y="2286000"/>
            <a:ext cx="12801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Nivel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914400" y="2651760"/>
            <a:ext cx="12801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Intermedio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2377440" y="2286000"/>
            <a:ext cx="5852160" cy="8229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Has incluido preguntas ambientales en tu selección de proveedores: ¿ISO 14001? ¿Huella de carbono? Lo documentas.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40080" y="3383280"/>
            <a:ext cx="786384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640080" y="338328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914400" y="3474720"/>
            <a:ext cx="128016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Nivel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914400" y="3840480"/>
            <a:ext cx="1280160" cy="2743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Avanzado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2377440" y="3474720"/>
            <a:ext cx="5852160" cy="8229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Pides datos concretos a proveedores clave: huella de carbono de productos, certificaciones, datos de ciclo de vida.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640080" y="3977640"/>
            <a:ext cx="786384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Empieza por tus 10-15 proveedores que representen el 80% del gasto → pregúntales si tienen política ambiental.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Picture 386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08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457200" y="1463040"/>
            <a:ext cx="6400800" cy="12801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Objetivos realistas: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"mejorar" no es un eslogan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57200" y="29260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Un objetivo modesto pero real y cumplido vale más que diez promesas en el aire.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6" name="Google Shape;3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397" name="Picture 396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2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8  |  Objetivos realistas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4 características de un buen objetivo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640080" y="1005840"/>
            <a:ext cx="19202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1234440" y="1188720"/>
            <a:ext cx="731520" cy="731520"/>
          </a:xfrm>
          <a:prstGeom prst="roundRect">
            <a:avLst>
              <a:gd name="adj" fmla="val 4000"/>
            </a:avLst>
          </a:pr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1234440" y="1207008"/>
            <a:ext cx="731520" cy="7132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777240" y="2103120"/>
            <a:ext cx="1645920" cy="4114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Específico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777240" y="2514600"/>
            <a:ext cx="1645920" cy="8229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No "reducir emisiones".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Sí "reducir Alcance 1 y 2".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2743200" y="1005840"/>
            <a:ext cx="19202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3337560" y="1188720"/>
            <a:ext cx="731520" cy="731520"/>
          </a:xfrm>
          <a:prstGeom prst="roundRect">
            <a:avLst>
              <a:gd name="adj" fmla="val 4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3337560" y="1207008"/>
            <a:ext cx="731520" cy="7132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2880360" y="2103120"/>
            <a:ext cx="1645920" cy="4114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Medible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2880360" y="2514600"/>
            <a:ext cx="1645920" cy="8229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Tiene un número: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"un 10%", "15 toneladas".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846320" y="1005840"/>
            <a:ext cx="19202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5440680" y="1188720"/>
            <a:ext cx="731520" cy="731520"/>
          </a:xfrm>
          <a:prstGeom prst="roundRect">
            <a:avLst>
              <a:gd name="adj" fmla="val 4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18" name="Google Shape;418;p22"/>
          <p:cNvSpPr/>
          <p:nvPr/>
        </p:nvSpPr>
        <p:spPr>
          <a:xfrm>
            <a:off x="5440680" y="1207008"/>
            <a:ext cx="731520" cy="7132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4983480" y="2103120"/>
            <a:ext cx="1645920" cy="4114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Con plazo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4983480" y="2514600"/>
            <a:ext cx="1645920" cy="8229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"Para 2027",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"en los próximos 3 años".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6949440" y="1005840"/>
            <a:ext cx="19202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7543800" y="1188720"/>
            <a:ext cx="731520" cy="731520"/>
          </a:xfrm>
          <a:prstGeom prst="roundRect">
            <a:avLst>
              <a:gd name="adj" fmla="val 4000"/>
            </a:avLst>
          </a:prstGeom>
          <a:solidFill>
            <a:srgbClr val="2A3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7543800" y="1207008"/>
            <a:ext cx="731520" cy="713232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7086600" y="2103120"/>
            <a:ext cx="1645920" cy="4114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Con año 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7086600" y="2514600"/>
            <a:ext cx="1645920" cy="8229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"Respecto a 2024".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Sin año base no hay progreso.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640080" y="3794760"/>
            <a:ext cx="7863840" cy="6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914400" y="379476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"Reducir [indicador] un [X]% respecto a [año base], alcanzando [meta] para [fecha], mediante [acción]."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Picture 427" descr="LOGO ISI 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457200" y="457200"/>
            <a:ext cx="13716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95EBDA"/>
                </a:solidFill>
                <a:latin typeface="Syne ExtraBold"/>
                <a:ea typeface="Syne ExtraBold"/>
                <a:cs typeface="Syne ExtraBold"/>
                <a:sym typeface="Arial Black"/>
              </a:rPr>
              <a:t>09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457200" y="1463040"/>
            <a:ext cx="6400800" cy="12801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Checklist ambiental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Syne Bold"/>
                <a:ea typeface="Syne Bold"/>
                <a:cs typeface="Syne Bold"/>
                <a:sym typeface="Calibri"/>
              </a:rPr>
              <a:t>defendible (modo pyme)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No perfecta, no exhaustiva, pero sí defendible.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438" name="Picture 437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Píldora 9  |  Checklist ambiental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6858000" y="4709160"/>
            <a:ext cx="2011680" cy="43434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64008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0047"/>
                </a:solidFill>
                <a:latin typeface="Syne ExtraBold"/>
                <a:ea typeface="Syne ExtraBold"/>
                <a:cs typeface="Syne ExtraBold"/>
                <a:sym typeface="Arial Black"/>
              </a:rPr>
              <a:t>Tu checklist mínimo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640080" y="822960"/>
            <a:ext cx="3749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640080" y="82296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49" name="Google Shape;4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932688"/>
            <a:ext cx="292608" cy="292608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50" name="Google Shape;450;p24"/>
          <p:cNvSpPr/>
          <p:nvPr/>
        </p:nvSpPr>
        <p:spPr>
          <a:xfrm>
            <a:off x="1280160" y="896112"/>
            <a:ext cx="292608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Datos básicos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1280160" y="1280160"/>
            <a:ext cx="2926080" cy="502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Electricidad kWh, gas, agua m³, residuos t, flota 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640080" y="2057400"/>
            <a:ext cx="3749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640080" y="205740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54" name="Google Shape;4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167128"/>
            <a:ext cx="292608" cy="292608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55" name="Google Shape;455;p24"/>
          <p:cNvSpPr/>
          <p:nvPr/>
        </p:nvSpPr>
        <p:spPr>
          <a:xfrm>
            <a:off x="1280160" y="2130552"/>
            <a:ext cx="292608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Cálculos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1280160" y="2514600"/>
            <a:ext cx="2926080" cy="502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Huella carbono Alcance 1+2 con factores MITECO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640080" y="3291840"/>
            <a:ext cx="3749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640080" y="329184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59" name="Google Shape;4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401568"/>
            <a:ext cx="292608" cy="292608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60" name="Google Shape;460;p24"/>
          <p:cNvSpPr/>
          <p:nvPr/>
        </p:nvSpPr>
        <p:spPr>
          <a:xfrm>
            <a:off x="1280160" y="3364992"/>
            <a:ext cx="292608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Documentación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280160" y="3749040"/>
            <a:ext cx="2926080" cy="502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Facturas energía 2 años, GdOs, gestor residuos, agua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4754880" y="822960"/>
            <a:ext cx="3749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4754880" y="82296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64" name="Google Shape;4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932688"/>
            <a:ext cx="292608" cy="292608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65" name="Google Shape;465;p24"/>
          <p:cNvSpPr/>
          <p:nvPr/>
        </p:nvSpPr>
        <p:spPr>
          <a:xfrm>
            <a:off x="5394960" y="896112"/>
            <a:ext cx="292608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Proveedores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394960" y="1280160"/>
            <a:ext cx="2926080" cy="502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Top 10-15 proveedores con info ambiental básica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4754880" y="2057400"/>
            <a:ext cx="374904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4754880" y="205740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pic>
        <p:nvPicPr>
          <p:cNvPr descr="preencoded.png" id="469" name="Google Shape;4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167128"/>
            <a:ext cx="292608" cy="292608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sp>
        <p:nvSpPr>
          <p:cNvPr id="470" name="Google Shape;470;p24"/>
          <p:cNvSpPr/>
          <p:nvPr/>
        </p:nvSpPr>
        <p:spPr>
          <a:xfrm>
            <a:off x="5394960" y="2130552"/>
            <a:ext cx="2926080" cy="36576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0047"/>
                </a:solidFill>
                <a:latin typeface="Syne SemiBold"/>
                <a:ea typeface="Syne SemiBold"/>
                <a:cs typeface="Syne SemiBold"/>
                <a:sym typeface="Calibri"/>
              </a:rPr>
              <a:t>Objetivos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5394960" y="2514600"/>
            <a:ext cx="2926080" cy="50292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0047"/>
                </a:solidFill>
                <a:latin typeface="Syne"/>
                <a:ea typeface="Syne"/>
                <a:cs typeface="Syne"/>
                <a:sym typeface="Calibri"/>
              </a:rPr>
              <a:t>Al menos 1 objetivo medible + año base + responsable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640080" y="3931920"/>
            <a:ext cx="78638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73" name="Google Shape;473;p24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 Medium"/>
                <a:ea typeface="Syne Medium"/>
                <a:cs typeface="Syne Medium"/>
                <a:sym typeface="Calibri"/>
              </a:rPr>
              <a:t>Test: Si mañana te llega un cuestionario ambiental, ¿podrías responderlo en &lt; 1 semana con datos reales?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Picture 473" descr="LOGO ISI 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0047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5"/>
          <p:cNvSpPr/>
          <p:nvPr/>
        </p:nvSpPr>
        <p:spPr>
          <a:xfrm>
            <a:off x="0" y="0"/>
            <a:ext cx="914400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6217920" y="-1371600"/>
            <a:ext cx="5029200" cy="502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6858000" y="2286000"/>
            <a:ext cx="36576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004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731520" y="731520"/>
            <a:ext cx="5486400" cy="109728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Syne ExtraBold"/>
                <a:ea typeface="Syne ExtraBold"/>
                <a:cs typeface="Syne ExtraBold"/>
                <a:sym typeface="Arial Black"/>
              </a:rPr>
              <a:t>Gracias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731520" y="1828800"/>
            <a:ext cx="22860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5EB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solidFill/>
                <a:latin typeface="Syne"/>
                <a:ea typeface="Syne"/>
                <a:cs typeface="Syne"/>
              </a:rP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731520" y="2103120"/>
            <a:ext cx="5486400" cy="13716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No necesitáis ser expertos en medio ambiente.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Necesitáis tener datos, tenerlos organizados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Calibri"/>
              </a:rPr>
              <a:t>y poder responder con solvencia.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EBDA"/>
                </a:solidFill>
                <a:latin typeface="Syne"/>
                <a:ea typeface="Syne"/>
                <a:cs typeface="Syne"/>
                <a:sym typeface="Calibri"/>
              </a:rPr>
              <a:t>Institute for Sustainable Innovation  ×  Dcycle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645920"/>
            <a:ext cx="914400" cy="914400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</p:pic>
      <p:pic>
        <p:nvPicPr>
          <p:cNvPr id="487" name="Picture 486" descr="LOGO ISI 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9486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2026-02-12T07:15:39Z</dcterms:created>
  <dc:creator>Luis – Dcycle</dc:creator>
</cp:coreProperties>
</file>